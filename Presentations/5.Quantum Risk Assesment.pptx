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1"/>
    <p:sldMasterId id="2147483670" r:id="rId2"/>
  </p:sldMasterIdLst>
  <p:notesMasterIdLst>
    <p:notesMasterId r:id="rId19"/>
  </p:notesMasterIdLst>
  <p:handoutMasterIdLst>
    <p:handoutMasterId r:id="rId20"/>
  </p:handoutMasterIdLst>
  <p:sldIdLst>
    <p:sldId id="141168164" r:id="rId3"/>
    <p:sldId id="141168166" r:id="rId4"/>
    <p:sldId id="141168160" r:id="rId5"/>
    <p:sldId id="141168177" r:id="rId6"/>
    <p:sldId id="141168184" r:id="rId7"/>
    <p:sldId id="141168179" r:id="rId8"/>
    <p:sldId id="141168167" r:id="rId9"/>
    <p:sldId id="141168174" r:id="rId10"/>
    <p:sldId id="141168173" r:id="rId11"/>
    <p:sldId id="141168170" r:id="rId12"/>
    <p:sldId id="141168171" r:id="rId13"/>
    <p:sldId id="141168178" r:id="rId14"/>
    <p:sldId id="141168172" r:id="rId15"/>
    <p:sldId id="141168185" r:id="rId16"/>
    <p:sldId id="141168168" r:id="rId17"/>
    <p:sldId id="141168169" r:id="rId18"/>
  </p:sldIdLst>
  <p:sldSz cx="14630400" cy="82296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userDrawn="1">
          <p15:clr>
            <a:srgbClr val="547EBF"/>
          </p15:clr>
        </p15:guide>
        <p15:guide id="2" pos="4608" userDrawn="1">
          <p15:clr>
            <a:srgbClr val="547EBF"/>
          </p15:clr>
        </p15:guide>
        <p15:guide id="3" pos="6912" userDrawn="1">
          <p15:clr>
            <a:srgbClr val="547EBF"/>
          </p15:clr>
        </p15:guide>
        <p15:guide id="4" pos="2304" userDrawn="1">
          <p15:clr>
            <a:srgbClr val="547EBF"/>
          </p15:clr>
        </p15:guide>
        <p15:guide id="5" orient="horz" pos="1296" userDrawn="1">
          <p15:clr>
            <a:srgbClr val="547EBF"/>
          </p15:clr>
        </p15:guide>
        <p15:guide id="6" orient="horz" pos="3888" userDrawn="1">
          <p15:clr>
            <a:srgbClr val="547EBF"/>
          </p15:clr>
        </p15:guide>
        <p15:guide id="7" userDrawn="1">
          <p15:clr>
            <a:srgbClr val="547EBF"/>
          </p15:clr>
        </p15:guide>
        <p15:guide id="8" pos="9216" userDrawn="1">
          <p15:clr>
            <a:srgbClr val="547EBF"/>
          </p15:clr>
        </p15:guide>
        <p15:guide id="9" orient="horz" userDrawn="1">
          <p15:clr>
            <a:srgbClr val="547EBF"/>
          </p15:clr>
        </p15:guide>
        <p15:guide id="10" orient="horz" pos="5184" userDrawn="1">
          <p15:clr>
            <a:srgbClr val="547EBF"/>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BM"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FF"/>
    <a:srgbClr val="E80000"/>
    <a:srgbClr val="76008A"/>
    <a:srgbClr val="00811F"/>
    <a:srgbClr val="FFF001"/>
    <a:srgbClr val="FF8B00"/>
    <a:srgbClr val="000000"/>
    <a:srgbClr val="F7F3F1"/>
    <a:srgbClr val="DBFBFB"/>
    <a:srgbClr val="EDF4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5E356F-1B6E-E947-ABA5-EF2D1747D8AD}" v="2" dt="2026-01-20T09:44:28.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95707"/>
  </p:normalViewPr>
  <p:slideViewPr>
    <p:cSldViewPr snapToObjects="1">
      <p:cViewPr varScale="1">
        <p:scale>
          <a:sx n="79" d="100"/>
          <a:sy n="79" d="100"/>
        </p:scale>
        <p:origin x="592" y="208"/>
      </p:cViewPr>
      <p:guideLst>
        <p:guide orient="horz" pos="2592"/>
        <p:guide pos="4608"/>
        <p:guide pos="6912"/>
        <p:guide pos="2304"/>
        <p:guide orient="horz" pos="1296"/>
        <p:guide orient="horz" pos="3888"/>
        <p:guide/>
        <p:guide pos="9216"/>
        <p:guide orient="horz"/>
        <p:guide orient="horz" pos="5184"/>
      </p:guideLst>
    </p:cSldViewPr>
  </p:slideViewPr>
  <p:notesTextViewPr>
    <p:cViewPr>
      <p:scale>
        <a:sx n="1" d="1"/>
        <a:sy n="1" d="1"/>
      </p:scale>
      <p:origin x="0" y="0"/>
    </p:cViewPr>
  </p:notesTextViewPr>
  <p:sorterViewPr>
    <p:cViewPr>
      <p:scale>
        <a:sx n="68" d="100"/>
        <a:sy n="68" d="100"/>
      </p:scale>
      <p:origin x="0" y="0"/>
    </p:cViewPr>
  </p:sorterViewPr>
  <p:notesViewPr>
    <p:cSldViewPr snapToObjects="1">
      <p:cViewPr varScale="1">
        <p:scale>
          <a:sx n="67" d="100"/>
          <a:sy n="67" d="100"/>
        </p:scale>
        <p:origin x="237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eh Saeed" userId="2c0a189a-0f7c-4206-8181-9a10555249db" providerId="ADAL" clId="{852638DA-3B48-5304-BB1F-24E51C1A5FD3}"/>
    <pc:docChg chg="custSel modSld">
      <pc:chgData name="Sameh Saeed" userId="2c0a189a-0f7c-4206-8181-9a10555249db" providerId="ADAL" clId="{852638DA-3B48-5304-BB1F-24E51C1A5FD3}" dt="2026-01-20T09:44:39.330" v="48" actId="20577"/>
      <pc:docMkLst>
        <pc:docMk/>
      </pc:docMkLst>
      <pc:sldChg chg="addSp delSp modSp mod">
        <pc:chgData name="Sameh Saeed" userId="2c0a189a-0f7c-4206-8181-9a10555249db" providerId="ADAL" clId="{852638DA-3B48-5304-BB1F-24E51C1A5FD3}" dt="2026-01-20T09:44:39.330" v="48" actId="20577"/>
        <pc:sldMkLst>
          <pc:docMk/>
          <pc:sldMk cId="1614369707" sldId="141168164"/>
        </pc:sldMkLst>
        <pc:spChg chg="del">
          <ac:chgData name="Sameh Saeed" userId="2c0a189a-0f7c-4206-8181-9a10555249db" providerId="ADAL" clId="{852638DA-3B48-5304-BB1F-24E51C1A5FD3}" dt="2026-01-20T09:44:31.095" v="26" actId="478"/>
          <ac:spMkLst>
            <pc:docMk/>
            <pc:sldMk cId="1614369707" sldId="141168164"/>
            <ac:spMk id="2" creationId="{8392BFBF-63F1-8911-10E4-A39432041DBB}"/>
          </ac:spMkLst>
        </pc:spChg>
        <pc:spChg chg="mod">
          <ac:chgData name="Sameh Saeed" userId="2c0a189a-0f7c-4206-8181-9a10555249db" providerId="ADAL" clId="{852638DA-3B48-5304-BB1F-24E51C1A5FD3}" dt="2026-01-20T09:44:39.330" v="48" actId="20577"/>
          <ac:spMkLst>
            <pc:docMk/>
            <pc:sldMk cId="1614369707" sldId="141168164"/>
            <ac:spMk id="6" creationId="{C9F683B6-CF41-EC42-BFCB-802BCC74C2BD}"/>
          </ac:spMkLst>
        </pc:spChg>
        <pc:picChg chg="del">
          <ac:chgData name="Sameh Saeed" userId="2c0a189a-0f7c-4206-8181-9a10555249db" providerId="ADAL" clId="{852638DA-3B48-5304-BB1F-24E51C1A5FD3}" dt="2026-01-20T09:41:04.707" v="23" actId="478"/>
          <ac:picMkLst>
            <pc:docMk/>
            <pc:sldMk cId="1614369707" sldId="141168164"/>
            <ac:picMk id="3" creationId="{2D011E2D-EA95-4A77-26D6-A726496EC998}"/>
          </ac:picMkLst>
        </pc:picChg>
        <pc:picChg chg="add del">
          <ac:chgData name="Sameh Saeed" userId="2c0a189a-0f7c-4206-8181-9a10555249db" providerId="ADAL" clId="{852638DA-3B48-5304-BB1F-24E51C1A5FD3}" dt="2026-01-20T09:44:28.387" v="25" actId="478"/>
          <ac:picMkLst>
            <pc:docMk/>
            <pc:sldMk cId="1614369707" sldId="141168164"/>
            <ac:picMk id="2050" creationId="{118E856A-185F-B9A1-E596-B1026EEE1CF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D3A1D4-C2F1-4FBA-9F37-B87A976340E2}" type="datetimeFigureOut">
              <a:rPr lang="en-US" smtClean="0"/>
              <a:t>2/8/26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B101E57-0ADC-4285-9663-DD3D73EBE0D4}" type="slidenum">
              <a:rPr lang="en-US" smtClean="0"/>
              <a:t>‹#›</a:t>
            </a:fld>
            <a:endParaRPr lang="en-US"/>
          </a:p>
        </p:txBody>
      </p:sp>
    </p:spTree>
    <p:extLst>
      <p:ext uri="{BB962C8B-B14F-4D97-AF65-F5344CB8AC3E}">
        <p14:creationId xmlns:p14="http://schemas.microsoft.com/office/powerpoint/2010/main" val="1801682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charset="0"/>
              </a:defRPr>
            </a:lvl1pPr>
          </a:lstStyle>
          <a:p>
            <a:fld id="{5288BB53-F264-D84E-8876-073A512183CA}" type="datetimeFigureOut">
              <a:rPr lang="en-US" smtClean="0"/>
              <a:pPr/>
              <a:t>2/8/26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charset="0"/>
              </a:defRPr>
            </a:lvl1pPr>
          </a:lstStyle>
          <a:p>
            <a:fld id="{698D0594-4E60-8F4B-8226-C705B94694A4}" type="slidenum">
              <a:rPr lang="en-US" smtClean="0"/>
              <a:pPr/>
              <a:t>‹#›</a:t>
            </a:fld>
            <a:endParaRPr lang="en-US" dirty="0"/>
          </a:p>
        </p:txBody>
      </p:sp>
    </p:spTree>
    <p:extLst>
      <p:ext uri="{BB962C8B-B14F-4D97-AF65-F5344CB8AC3E}">
        <p14:creationId xmlns:p14="http://schemas.microsoft.com/office/powerpoint/2010/main" val="523485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charset="0"/>
        <a:ea typeface="+mn-ea"/>
        <a:cs typeface="+mn-cs"/>
      </a:defRPr>
    </a:lvl1pPr>
    <a:lvl2pPr marL="457200" algn="l" defTabSz="914400" rtl="0" eaLnBrk="1" latinLnBrk="0" hangingPunct="1">
      <a:defRPr sz="1200" b="0" i="0" kern="1200">
        <a:solidFill>
          <a:schemeClr val="tx1"/>
        </a:solidFill>
        <a:latin typeface="Arial Regular" charset="0"/>
        <a:ea typeface="+mn-ea"/>
        <a:cs typeface="+mn-cs"/>
      </a:defRPr>
    </a:lvl2pPr>
    <a:lvl3pPr marL="914400" algn="l" defTabSz="914400" rtl="0" eaLnBrk="1" latinLnBrk="0" hangingPunct="1">
      <a:defRPr sz="1200" b="0" i="0" kern="1200">
        <a:solidFill>
          <a:schemeClr val="tx1"/>
        </a:solidFill>
        <a:latin typeface="Arial Regular" charset="0"/>
        <a:ea typeface="+mn-ea"/>
        <a:cs typeface="+mn-cs"/>
      </a:defRPr>
    </a:lvl3pPr>
    <a:lvl4pPr marL="1371600" algn="l" defTabSz="914400" rtl="0" eaLnBrk="1" latinLnBrk="0" hangingPunct="1">
      <a:defRPr sz="1200" b="0" i="0" kern="1200">
        <a:solidFill>
          <a:schemeClr val="tx1"/>
        </a:solidFill>
        <a:latin typeface="Arial Regular" charset="0"/>
        <a:ea typeface="+mn-ea"/>
        <a:cs typeface="+mn-cs"/>
      </a:defRPr>
    </a:lvl4pPr>
    <a:lvl5pPr marL="1828800" algn="l" defTabSz="914400" rtl="0" eaLnBrk="1" latinLnBrk="0" hangingPunct="1">
      <a:defRPr sz="1200" b="0" i="0" kern="1200">
        <a:solidFill>
          <a:schemeClr val="tx1"/>
        </a:solidFill>
        <a:latin typeface="Arial Regular"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11" name="Title 1"/>
          <p:cNvSpPr>
            <a:spLocks noGrp="1"/>
          </p:cNvSpPr>
          <p:nvPr>
            <p:ph type="title"/>
          </p:nvPr>
        </p:nvSpPr>
        <p:spPr>
          <a:xfrm>
            <a:off x="457200" y="685800"/>
            <a:ext cx="13716000" cy="1143000"/>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5" name="Content Placeholder 2"/>
          <p:cNvSpPr>
            <a:spLocks noGrp="1"/>
          </p:cNvSpPr>
          <p:nvPr>
            <p:ph idx="4294967295"/>
          </p:nvPr>
        </p:nvSpPr>
        <p:spPr>
          <a:xfrm>
            <a:off x="457200" y="2057400"/>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8" lvl="0" indent="-5943600" algn="just">
              <a:spcBef>
                <a:spcPts val="0"/>
              </a:spcBef>
            </a:pPr>
            <a:r>
              <a:rPr lang="en-US" b="1"/>
              <a:t>Click to edit Master text styles</a:t>
            </a:r>
          </a:p>
          <a:p>
            <a:pPr marL="5945188" lvl="1" indent="-5943600" algn="just">
              <a:spcBef>
                <a:spcPts val="0"/>
              </a:spcBef>
            </a:pPr>
            <a:r>
              <a:rPr lang="en-US" b="1"/>
              <a:t>Second level</a:t>
            </a:r>
          </a:p>
          <a:p>
            <a:pPr marL="5945188" lvl="2" indent="-5943600" algn="just">
              <a:spcBef>
                <a:spcPts val="0"/>
              </a:spcBef>
            </a:pPr>
            <a:r>
              <a:rPr lang="en-US" b="1"/>
              <a:t>Third level</a:t>
            </a:r>
          </a:p>
          <a:p>
            <a:pPr marL="5945188" lvl="3" indent="-5943600" algn="just">
              <a:spcBef>
                <a:spcPts val="0"/>
              </a:spcBef>
            </a:pPr>
            <a:r>
              <a:rPr lang="en-US" b="1"/>
              <a:t>Fourth level</a:t>
            </a:r>
          </a:p>
          <a:p>
            <a:pPr marL="5945188" lvl="4" indent="-5943600" algn="just">
              <a:spcBef>
                <a:spcPts val="0"/>
              </a:spcBef>
            </a:pPr>
            <a:r>
              <a:rPr lang="en-US" b="1"/>
              <a:t>Fifth level</a:t>
            </a:r>
            <a:endParaRPr lang="en-US" dirty="0"/>
          </a:p>
        </p:txBody>
      </p:sp>
      <p:sp>
        <p:nvSpPr>
          <p:cNvPr id="16" name="Content Placeholder 3"/>
          <p:cNvSpPr>
            <a:spLocks noGrp="1"/>
          </p:cNvSpPr>
          <p:nvPr>
            <p:ph idx="4294967295"/>
          </p:nvPr>
        </p:nvSpPr>
        <p:spPr>
          <a:xfrm>
            <a:off x="7589520" y="2057400"/>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8" lvl="0" indent="-5943600" algn="just">
              <a:spcBef>
                <a:spcPts val="0"/>
              </a:spcBef>
            </a:pPr>
            <a:r>
              <a:rPr lang="en-US" b="1"/>
              <a:t>Click to edit Master text styles</a:t>
            </a:r>
          </a:p>
          <a:p>
            <a:pPr marL="5945188" lvl="1" indent="-5943600" algn="just">
              <a:spcBef>
                <a:spcPts val="0"/>
              </a:spcBef>
            </a:pPr>
            <a:r>
              <a:rPr lang="en-US" b="1"/>
              <a:t>Second level</a:t>
            </a:r>
          </a:p>
          <a:p>
            <a:pPr marL="5945188" lvl="2" indent="-5943600" algn="just">
              <a:spcBef>
                <a:spcPts val="0"/>
              </a:spcBef>
            </a:pPr>
            <a:r>
              <a:rPr lang="en-US" b="1"/>
              <a:t>Third level</a:t>
            </a:r>
          </a:p>
          <a:p>
            <a:pPr marL="5945188" lvl="3" indent="-5943600" algn="just">
              <a:spcBef>
                <a:spcPts val="0"/>
              </a:spcBef>
            </a:pPr>
            <a:r>
              <a:rPr lang="en-US" b="1"/>
              <a:t>Fourth level</a:t>
            </a:r>
          </a:p>
          <a:p>
            <a:pPr marL="5945188" lvl="4" indent="-5943600" algn="just">
              <a:spcBef>
                <a:spcPts val="0"/>
              </a:spcBef>
            </a:pPr>
            <a:r>
              <a:rPr lang="en-US" b="1"/>
              <a:t>Fifth level</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3" name="Rectangle 3"/>
          <p:cNvSpPr txBox="1">
            <a:spLocks noChangeArrowheads="1"/>
          </p:cNvSpPr>
          <p:nvPr userDrawn="1"/>
        </p:nvSpPr>
        <p:spPr bwMode="auto">
          <a:xfrm>
            <a:off x="0" y="0"/>
            <a:ext cx="14630400" cy="8229600"/>
          </a:xfrm>
          <a:prstGeom prst="rect">
            <a:avLst/>
          </a:prstGeom>
          <a:gradFill rotWithShape="1">
            <a:gsLst>
              <a:gs pos="0">
                <a:srgbClr val="003853"/>
              </a:gs>
              <a:gs pos="100000">
                <a:srgbClr val="001A26"/>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buFont typeface="Wingdings" panose="05000000000000000000" pitchFamily="2" charset="2"/>
              <a:buNone/>
              <a:defRPr/>
            </a:pPr>
            <a:endParaRPr lang="en-US" altLang="en-US" sz="11501" i="1" dirty="0">
              <a:solidFill>
                <a:schemeClr val="bg2"/>
              </a:solidFill>
              <a:latin typeface="Calibri" panose="020F0502020204030204" pitchFamily="34" charset="0"/>
              <a:cs typeface="Calibri" panose="020F0502020204030204" pitchFamily="34" charset="0"/>
            </a:endParaRPr>
          </a:p>
        </p:txBody>
      </p:sp>
      <p:sp>
        <p:nvSpPr>
          <p:cNvPr id="9" name="Rectangle 3"/>
          <p:cNvSpPr>
            <a:spLocks noGrp="1" noChangeArrowheads="1"/>
          </p:cNvSpPr>
          <p:nvPr>
            <p:ph type="ctrTitle"/>
          </p:nvPr>
        </p:nvSpPr>
        <p:spPr>
          <a:xfrm>
            <a:off x="1188720" y="3749040"/>
            <a:ext cx="5212080" cy="299158"/>
          </a:xfrm>
          <a:prstGeom prst="rect">
            <a:avLst/>
          </a:prstGeom>
        </p:spPr>
        <p:txBody>
          <a:bodyPr/>
          <a:lstStyle>
            <a:lvl1pPr>
              <a:defRPr sz="4800">
                <a:solidFill>
                  <a:schemeClr val="bg2"/>
                </a:solidFill>
                <a:latin typeface="Calibri" panose="020F0502020204030204" pitchFamily="34" charset="0"/>
                <a:cs typeface="Calibri" panose="020F0502020204030204" pitchFamily="34" charset="0"/>
              </a:defRPr>
            </a:lvl1pPr>
          </a:lstStyle>
          <a:p>
            <a:pPr lvl="0"/>
            <a:r>
              <a:rPr lang="en-US" altLang="en-US" noProof="0"/>
              <a:t>Click to edit Master title style</a:t>
            </a:r>
          </a:p>
        </p:txBody>
      </p:sp>
    </p:spTree>
    <p:extLst>
      <p:ext uri="{BB962C8B-B14F-4D97-AF65-F5344CB8AC3E}">
        <p14:creationId xmlns:p14="http://schemas.microsoft.com/office/powerpoint/2010/main" val="2985166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ivider">
    <p:spTree>
      <p:nvGrpSpPr>
        <p:cNvPr id="1" name=""/>
        <p:cNvGrpSpPr/>
        <p:nvPr/>
      </p:nvGrpSpPr>
      <p:grpSpPr>
        <a:xfrm>
          <a:off x="0" y="0"/>
          <a:ext cx="0" cy="0"/>
          <a:chOff x="0" y="0"/>
          <a:chExt cx="0" cy="0"/>
        </a:xfrm>
      </p:grpSpPr>
      <p:sp>
        <p:nvSpPr>
          <p:cNvPr id="11" name="Title 1"/>
          <p:cNvSpPr>
            <a:spLocks noGrp="1"/>
          </p:cNvSpPr>
          <p:nvPr>
            <p:ph type="title"/>
          </p:nvPr>
        </p:nvSpPr>
        <p:spPr>
          <a:xfrm>
            <a:off x="457200" y="685801"/>
            <a:ext cx="13716000" cy="1143000"/>
          </a:xfrm>
        </p:spPr>
        <p:txBody>
          <a:bodyPr/>
          <a:lstStyle>
            <a:lvl1pPr>
              <a:defRPr>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5" name="Content Placeholder 2"/>
          <p:cNvSpPr>
            <a:spLocks noGrp="1"/>
          </p:cNvSpPr>
          <p:nvPr>
            <p:ph idx="4294967295"/>
          </p:nvPr>
        </p:nvSpPr>
        <p:spPr>
          <a:xfrm>
            <a:off x="457200" y="2057401"/>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9" lvl="0" indent="-5943600" algn="just">
              <a:spcBef>
                <a:spcPts val="0"/>
              </a:spcBef>
            </a:pPr>
            <a:r>
              <a:rPr lang="en-US" b="1"/>
              <a:t>Click to edit Master text styles</a:t>
            </a:r>
          </a:p>
          <a:p>
            <a:pPr marL="5945189" lvl="1" indent="-5943600" algn="just">
              <a:spcBef>
                <a:spcPts val="0"/>
              </a:spcBef>
            </a:pPr>
            <a:r>
              <a:rPr lang="en-US" b="1"/>
              <a:t>Second level</a:t>
            </a:r>
          </a:p>
          <a:p>
            <a:pPr marL="5945189" lvl="2" indent="-5943600" algn="just">
              <a:spcBef>
                <a:spcPts val="0"/>
              </a:spcBef>
            </a:pPr>
            <a:r>
              <a:rPr lang="en-US" b="1"/>
              <a:t>Third level</a:t>
            </a:r>
          </a:p>
          <a:p>
            <a:pPr marL="5945189" lvl="3" indent="-5943600" algn="just">
              <a:spcBef>
                <a:spcPts val="0"/>
              </a:spcBef>
            </a:pPr>
            <a:r>
              <a:rPr lang="en-US" b="1"/>
              <a:t>Fourth level</a:t>
            </a:r>
          </a:p>
          <a:p>
            <a:pPr marL="5945189" lvl="4" indent="-5943600" algn="just">
              <a:spcBef>
                <a:spcPts val="0"/>
              </a:spcBef>
            </a:pPr>
            <a:r>
              <a:rPr lang="en-US" b="1"/>
              <a:t>Fifth level</a:t>
            </a:r>
            <a:endParaRPr lang="en-US" dirty="0"/>
          </a:p>
        </p:txBody>
      </p:sp>
      <p:sp>
        <p:nvSpPr>
          <p:cNvPr id="16" name="Content Placeholder 3"/>
          <p:cNvSpPr>
            <a:spLocks noGrp="1"/>
          </p:cNvSpPr>
          <p:nvPr>
            <p:ph idx="4294967295"/>
          </p:nvPr>
        </p:nvSpPr>
        <p:spPr>
          <a:xfrm>
            <a:off x="7589520" y="2057401"/>
            <a:ext cx="6583680" cy="5257800"/>
          </a:xfrm>
        </p:spPr>
        <p:txBody>
          <a:bodyPr tIns="0"/>
          <a:lstStyle>
            <a:lvl1pPr>
              <a:defRPr>
                <a:latin typeface="Calibri" panose="020F0502020204030204" pitchFamily="34" charset="0"/>
                <a:cs typeface="Calibri" panose="020F0502020204030204" pitchFamily="34" charset="0"/>
              </a:defRPr>
            </a:lvl1pPr>
            <a:lvl2pPr>
              <a:defRPr>
                <a:latin typeface="Calibri" panose="020F0502020204030204" pitchFamily="34" charset="0"/>
                <a:cs typeface="Calibri" panose="020F0502020204030204" pitchFamily="34" charset="0"/>
              </a:defRPr>
            </a:lvl2pPr>
            <a:lvl3pP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marL="5945189" lvl="0" indent="-5943600" algn="just">
              <a:spcBef>
                <a:spcPts val="0"/>
              </a:spcBef>
            </a:pPr>
            <a:r>
              <a:rPr lang="en-US" b="1"/>
              <a:t>Click to edit Master text styles</a:t>
            </a:r>
          </a:p>
          <a:p>
            <a:pPr marL="5945189" lvl="1" indent="-5943600" algn="just">
              <a:spcBef>
                <a:spcPts val="0"/>
              </a:spcBef>
            </a:pPr>
            <a:r>
              <a:rPr lang="en-US" b="1"/>
              <a:t>Second level</a:t>
            </a:r>
          </a:p>
          <a:p>
            <a:pPr marL="5945189" lvl="2" indent="-5943600" algn="just">
              <a:spcBef>
                <a:spcPts val="0"/>
              </a:spcBef>
            </a:pPr>
            <a:r>
              <a:rPr lang="en-US" b="1"/>
              <a:t>Third level</a:t>
            </a:r>
          </a:p>
          <a:p>
            <a:pPr marL="5945189" lvl="3" indent="-5943600" algn="just">
              <a:spcBef>
                <a:spcPts val="0"/>
              </a:spcBef>
            </a:pPr>
            <a:r>
              <a:rPr lang="en-US" b="1"/>
              <a:t>Fourth level</a:t>
            </a:r>
          </a:p>
          <a:p>
            <a:pPr marL="5945189" lvl="4" indent="-5943600" algn="just">
              <a:spcBef>
                <a:spcPts val="0"/>
              </a:spcBef>
            </a:pPr>
            <a:r>
              <a:rPr lang="en-US" b="1"/>
              <a:t>Fifth level</a:t>
            </a:r>
            <a:endParaRPr lang="en-US" dirty="0"/>
          </a:p>
        </p:txBody>
      </p:sp>
      <p:sp>
        <p:nvSpPr>
          <p:cNvPr id="3" name="Slide Number Placeholder 2">
            <a:extLst>
              <a:ext uri="{FF2B5EF4-FFF2-40B4-BE49-F238E27FC236}">
                <a16:creationId xmlns:a16="http://schemas.microsoft.com/office/drawing/2014/main" id="{E8E53F51-BA7A-0B34-9471-3DDAB98039EE}"/>
              </a:ext>
            </a:extLst>
          </p:cNvPr>
          <p:cNvSpPr txBox="1">
            <a:spLocks/>
          </p:cNvSpPr>
          <p:nvPr userDrawn="1"/>
        </p:nvSpPr>
        <p:spPr>
          <a:xfrm>
            <a:off x="454859" y="7714211"/>
            <a:ext cx="2022333" cy="515389"/>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r>
              <a:rPr lang="en-US" sz="1920" b="0" i="0" dirty="0">
                <a:solidFill>
                  <a:schemeClr val="tx1"/>
                </a:solidFill>
                <a:latin typeface="IBM Plex Sans" charset="0"/>
                <a:ea typeface="IBM Plex Sans" charset="0"/>
                <a:cs typeface="IBM Plex Sans" charset="0"/>
              </a:rPr>
              <a:t>Page </a:t>
            </a:r>
            <a:fld id="{3FD999D4-B456-9943-89B7-30D56181CE18}" type="slidenum">
              <a:rPr lang="en-US" sz="1920" b="0" i="0" smtClean="0">
                <a:solidFill>
                  <a:schemeClr val="tx1"/>
                </a:solidFill>
                <a:latin typeface="IBM Plex Sans" charset="0"/>
                <a:ea typeface="IBM Plex Sans" charset="0"/>
                <a:cs typeface="IBM Plex Sans" charset="0"/>
              </a:rPr>
              <a:pPr algn="l"/>
              <a:t>‹#›</a:t>
            </a:fld>
            <a:r>
              <a:rPr lang="en-US" sz="1920" b="0" i="0" dirty="0">
                <a:solidFill>
                  <a:schemeClr val="tx1"/>
                </a:solidFill>
                <a:latin typeface="IBM Plex Sans" charset="0"/>
                <a:ea typeface="IBM Plex Sans" charset="0"/>
                <a:cs typeface="IBM Plex Sans" charset="0"/>
              </a:rPr>
              <a:t> </a:t>
            </a:r>
          </a:p>
        </p:txBody>
      </p:sp>
    </p:spTree>
    <p:extLst>
      <p:ext uri="{BB962C8B-B14F-4D97-AF65-F5344CB8AC3E}">
        <p14:creationId xmlns:p14="http://schemas.microsoft.com/office/powerpoint/2010/main" val="4277631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73961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38150"/>
            <a:ext cx="6583680" cy="114300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457200" y="2057400"/>
            <a:ext cx="6583680" cy="5486400"/>
          </a:xfrm>
          <a:prstGeom prst="rect">
            <a:avLst/>
          </a:prstGeom>
        </p:spPr>
        <p:txBody>
          <a:bodyPr vert="horz" lIns="0" tIns="228600" rIns="0" bIns="0" rtlCol="0" anchor="t">
            <a:noAutofit/>
          </a:bodyPr>
          <a:lstStyle/>
          <a:p>
            <a:pPr lvl="0"/>
            <a:r>
              <a:rPr lang="en-US" dirty="0"/>
              <a:t>Click to edit Master text styles</a:t>
            </a:r>
          </a:p>
        </p:txBody>
      </p:sp>
      <p:sp>
        <p:nvSpPr>
          <p:cNvPr id="7" name="Slide Number Placeholder 2">
            <a:extLst>
              <a:ext uri="{FF2B5EF4-FFF2-40B4-BE49-F238E27FC236}">
                <a16:creationId xmlns:a16="http://schemas.microsoft.com/office/drawing/2014/main" id="{ECA83FE4-EEEB-EE4E-BD6B-71BF10FF7DDE}"/>
              </a:ext>
            </a:extLst>
          </p:cNvPr>
          <p:cNvSpPr txBox="1">
            <a:spLocks/>
          </p:cNvSpPr>
          <p:nvPr userDrawn="1"/>
        </p:nvSpPr>
        <p:spPr>
          <a:xfrm>
            <a:off x="454858" y="7893792"/>
            <a:ext cx="327879" cy="219050"/>
          </a:xfrm>
          <a:prstGeom prst="rect">
            <a:avLst/>
          </a:prstGeom>
        </p:spPr>
        <p:txBody>
          <a:bodyPr lIns="0" tIns="0" rIns="0" bIns="0" anchor="ctr"/>
          <a:lstStyle>
            <a:defPPr>
              <a:defRPr lang="en-US"/>
            </a:defPPr>
            <a:lvl1pPr marL="0" algn="l" defTabSz="685800" rtl="0" eaLnBrk="1" latinLnBrk="0" hangingPunct="1">
              <a:defRPr sz="1350" kern="1200">
                <a:solidFill>
                  <a:schemeClr val="bg2"/>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l"/>
            <a:fld id="{3FD999D4-B456-9943-89B7-30D56181CE18}" type="slidenum">
              <a:rPr lang="en-US" sz="800" b="0" i="0" smtClean="0">
                <a:solidFill>
                  <a:schemeClr val="bg2"/>
                </a:solidFill>
                <a:latin typeface="Calibri" panose="020F0502020204030204" pitchFamily="34" charset="0"/>
                <a:ea typeface="IBM Plex Sans" charset="0"/>
                <a:cs typeface="Calibri" panose="020F0502020204030204" pitchFamily="34" charset="0"/>
              </a:rPr>
              <a:pPr algn="l"/>
              <a:t>‹#›</a:t>
            </a:fld>
            <a:endParaRPr lang="en-US" sz="800" b="0" i="0" dirty="0">
              <a:solidFill>
                <a:schemeClr val="bg2"/>
              </a:solidFill>
              <a:latin typeface="Calibri" panose="020F0502020204030204" pitchFamily="34" charset="0"/>
              <a:ea typeface="IBM Plex Sans" charset="0"/>
              <a:cs typeface="Calibri" panose="020F0502020204030204" pitchFamily="34" charset="0"/>
            </a:endParaRPr>
          </a:p>
        </p:txBody>
      </p:sp>
    </p:spTree>
    <p:extLst>
      <p:ext uri="{BB962C8B-B14F-4D97-AF65-F5344CB8AC3E}">
        <p14:creationId xmlns:p14="http://schemas.microsoft.com/office/powerpoint/2010/main" val="28075184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1097280" rtl="0" eaLnBrk="1" latinLnBrk="0" hangingPunct="1">
        <a:lnSpc>
          <a:spcPct val="90000"/>
        </a:lnSpc>
        <a:spcBef>
          <a:spcPct val="0"/>
        </a:spcBef>
        <a:buNone/>
        <a:defRPr sz="3600" b="0" i="0" kern="1200">
          <a:solidFill>
            <a:schemeClr val="bg2"/>
          </a:solidFill>
          <a:latin typeface="Calibri" panose="020F0502020204030204" pitchFamily="34" charset="0"/>
          <a:ea typeface="Calibri" panose="020F0502020204030204" pitchFamily="34" charset="0"/>
          <a:cs typeface="Calibri" panose="020F0502020204030204" pitchFamily="34" charset="0"/>
        </a:defRPr>
      </a:lvl1pPr>
    </p:titleStyle>
    <p:bodyStyle>
      <a:lvl1pPr marL="0" indent="0" algn="l" defTabSz="1097280" rtl="0" eaLnBrk="1" latinLnBrk="0" hangingPunct="1">
        <a:lnSpc>
          <a:spcPct val="105000"/>
        </a:lnSpc>
        <a:spcBef>
          <a:spcPts val="600"/>
        </a:spcBef>
        <a:buFontTx/>
        <a:buNone/>
        <a:tabLst/>
        <a:defRPr lang="en-US" sz="2000" b="0" i="0" kern="1200" dirty="0" smtClean="0">
          <a:solidFill>
            <a:schemeClr val="bg2"/>
          </a:solidFill>
          <a:latin typeface="Calibri" panose="020F0502020204030204" pitchFamily="34" charset="0"/>
          <a:ea typeface="Calibri" panose="020F0502020204030204" pitchFamily="34" charset="0"/>
          <a:cs typeface="Calibri" panose="020F0502020204030204" pitchFamily="34" charset="0"/>
        </a:defRPr>
      </a:lvl1pPr>
      <a:lvl2pPr marL="228600" indent="-228600" algn="l" defTabSz="1097280" rtl="0" eaLnBrk="1" latinLnBrk="0" hangingPunct="1">
        <a:lnSpc>
          <a:spcPct val="105000"/>
        </a:lnSpc>
        <a:spcBef>
          <a:spcPts val="600"/>
        </a:spcBef>
        <a:buFont typeface="LucidaGrande" charset="0"/>
        <a:buChar char="-"/>
        <a:defRPr lang="en-US" sz="2000" b="0" i="0" kern="1200" dirty="0" smtClean="0">
          <a:solidFill>
            <a:schemeClr val="bg2"/>
          </a:solidFill>
          <a:latin typeface="IBM Plex Sans" charset="0"/>
          <a:ea typeface="IBM Plex Sans" charset="0"/>
          <a:cs typeface="Arial" charset="0"/>
        </a:defRPr>
      </a:lvl2pPr>
      <a:lvl3pPr marL="457200" indent="-228600" algn="l" defTabSz="1097280" rtl="0" eaLnBrk="1" latinLnBrk="0" hangingPunct="1">
        <a:lnSpc>
          <a:spcPct val="105000"/>
        </a:lnSpc>
        <a:spcBef>
          <a:spcPts val="600"/>
        </a:spcBef>
        <a:buFont typeface="Arial" panose="020B0604020202020204" pitchFamily="34" charset="0"/>
        <a:buChar char="•"/>
        <a:defRPr lang="en-US" sz="2000" b="0" i="0" kern="1200" dirty="0" smtClean="0">
          <a:solidFill>
            <a:schemeClr val="bg2"/>
          </a:solidFill>
          <a:latin typeface="IBM Plex Sans" charset="0"/>
          <a:ea typeface="IBM Plex Sans" charset="0"/>
          <a:cs typeface="Arial" charset="0"/>
        </a:defRPr>
      </a:lvl3pPr>
      <a:lvl4pPr marL="685800" indent="-228600" algn="l" defTabSz="1097280" rtl="0" eaLnBrk="1" latinLnBrk="0" hangingPunct="1">
        <a:lnSpc>
          <a:spcPct val="105000"/>
        </a:lnSpc>
        <a:spcBef>
          <a:spcPts val="600"/>
        </a:spcBef>
        <a:buFont typeface=".AppleSystemUIFont" charset="-120"/>
        <a:buChar char="–"/>
        <a:defRPr lang="en-US" sz="2000" b="0" i="0" kern="1200" dirty="0" smtClean="0">
          <a:solidFill>
            <a:schemeClr val="bg2"/>
          </a:solidFill>
          <a:latin typeface="IBM Plex Sans" charset="0"/>
          <a:ea typeface="+mn-ea"/>
          <a:cs typeface="+mn-cs"/>
        </a:defRPr>
      </a:lvl4pPr>
      <a:lvl5pPr marL="914400" indent="-228600" algn="l" defTabSz="1097280" rtl="0" eaLnBrk="1" latinLnBrk="0" hangingPunct="1">
        <a:lnSpc>
          <a:spcPct val="105000"/>
        </a:lnSpc>
        <a:spcBef>
          <a:spcPts val="600"/>
        </a:spcBef>
        <a:buFont typeface="Arial" panose="020B0604020202020204" pitchFamily="34" charset="0"/>
        <a:buChar char="•"/>
        <a:defRPr lang="en-US" sz="2000" b="0" i="0" kern="1200" dirty="0">
          <a:solidFill>
            <a:schemeClr val="bg2"/>
          </a:solidFill>
          <a:latin typeface="IBM Plex Sans" charset="0"/>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85801"/>
            <a:ext cx="6583680" cy="1143000"/>
          </a:xfrm>
          <a:prstGeom prst="rect">
            <a:avLst/>
          </a:prstGeom>
        </p:spPr>
        <p:txBody>
          <a:bodyPr vert="horz" lIns="0" tIns="0" rIns="0" bIns="0" rtlCol="0" anchor="t">
            <a:noAutofit/>
          </a:bodyPr>
          <a:lstStyle/>
          <a:p>
            <a:r>
              <a:rPr lang="en-US" dirty="0"/>
              <a:t>Click to edit Master title style</a:t>
            </a:r>
          </a:p>
        </p:txBody>
      </p:sp>
      <p:sp>
        <p:nvSpPr>
          <p:cNvPr id="3" name="Text Placeholder 2"/>
          <p:cNvSpPr>
            <a:spLocks noGrp="1"/>
          </p:cNvSpPr>
          <p:nvPr>
            <p:ph type="body" idx="1"/>
          </p:nvPr>
        </p:nvSpPr>
        <p:spPr>
          <a:xfrm>
            <a:off x="457200" y="2057401"/>
            <a:ext cx="6583680" cy="5257800"/>
          </a:xfrm>
          <a:prstGeom prst="rect">
            <a:avLst/>
          </a:prstGeom>
        </p:spPr>
        <p:txBody>
          <a:bodyPr vert="horz" lIns="0" tIns="228600" rIns="0" bIns="0" rtlCol="0" anchor="t">
            <a:noAutofit/>
          </a:bodyPr>
          <a:lstStyle/>
          <a:p>
            <a:pPr lvl="0"/>
            <a:r>
              <a:rPr lang="en-US" dirty="0"/>
              <a:t>Click to edit Master text styles</a:t>
            </a:r>
          </a:p>
          <a:p>
            <a:pPr lvl="1"/>
            <a:r>
              <a:rPr lang="en-US" dirty="0"/>
              <a:t>Second level</a:t>
            </a:r>
          </a:p>
          <a:p>
            <a:pPr lvl="2"/>
            <a:r>
              <a:rPr lang="en-US" dirty="0"/>
              <a:t>Third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412EF33D-4C05-492F-AC89-ACB608214B80}"/>
              </a:ext>
            </a:extLst>
          </p:cNvPr>
          <p:cNvCxnSpPr/>
          <p:nvPr userDrawn="1"/>
        </p:nvCxnSpPr>
        <p:spPr>
          <a:xfrm>
            <a:off x="457201" y="7714211"/>
            <a:ext cx="13506450"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2120177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hf hdr="0" ftr="0"/>
  <p:txStyles>
    <p:titleStyle>
      <a:lvl1pPr algn="l" defTabSz="1097280" rtl="0" eaLnBrk="1" latinLnBrk="0" hangingPunct="1">
        <a:lnSpc>
          <a:spcPct val="90000"/>
        </a:lnSpc>
        <a:spcBef>
          <a:spcPct val="0"/>
        </a:spcBef>
        <a:buNone/>
        <a:defRPr sz="36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0" indent="0" algn="l" defTabSz="1097280" rtl="0" eaLnBrk="1" latinLnBrk="0" hangingPunct="1">
        <a:lnSpc>
          <a:spcPct val="105000"/>
        </a:lnSpc>
        <a:spcBef>
          <a:spcPts val="1200"/>
        </a:spcBef>
        <a:buFontTx/>
        <a:buNone/>
        <a:tabLst/>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228600" indent="-228600" algn="l" defTabSz="1097280" rtl="0" eaLnBrk="1" latinLnBrk="0" hangingPunct="1">
        <a:lnSpc>
          <a:spcPct val="105000"/>
        </a:lnSpc>
        <a:spcBef>
          <a:spcPts val="1000"/>
        </a:spcBef>
        <a:buFont typeface="LucidaGrande" charset="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4572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685800" indent="-228600" algn="l" defTabSz="1097280" rtl="0" eaLnBrk="1" latinLnBrk="0" hangingPunct="1">
        <a:lnSpc>
          <a:spcPct val="105000"/>
        </a:lnSpc>
        <a:spcBef>
          <a:spcPts val="0"/>
        </a:spcBef>
        <a:buFont typeface=".AppleSystemUIFont" charset="-12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914400" indent="-228600" algn="l" defTabSz="1097280" rtl="0" eaLnBrk="1" latinLnBrk="0" hangingPunct="1">
        <a:lnSpc>
          <a:spcPct val="105000"/>
        </a:lnSpc>
        <a:spcBef>
          <a:spcPts val="0"/>
        </a:spcBef>
        <a:buSzPct val="80000"/>
        <a:buFont typeface="Arial" panose="020B0604020202020204" pitchFamily="34" charset="0"/>
        <a:buChar char="•"/>
        <a:defRPr sz="20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Quantum-Resilient Encryption | Post-Quantum Cyrptography Solutions by Tyto">
            <a:extLst>
              <a:ext uri="{FF2B5EF4-FFF2-40B4-BE49-F238E27FC236}">
                <a16:creationId xmlns:a16="http://schemas.microsoft.com/office/drawing/2014/main" id="{118E856A-185F-B9A1-E596-B1026EEE1CF3}"/>
              </a:ext>
            </a:extLst>
          </p:cNvPr>
          <p:cNvPicPr>
            <a:picLocks noChangeAspect="1" noChangeArrowheads="1"/>
          </p:cNvPicPr>
          <p:nvPr/>
        </p:nvPicPr>
        <p:blipFill>
          <a:blip r:embed="rId2">
            <a:alphaModFix/>
            <a:extLst>
              <a:ext uri="{28A0092B-C50C-407E-A947-70E740481C1C}">
                <a14:useLocalDpi xmlns:a14="http://schemas.microsoft.com/office/drawing/2010/main"/>
              </a:ext>
            </a:extLst>
          </a:blip>
          <a:srcRect/>
          <a:stretch>
            <a:fillRect/>
          </a:stretch>
        </p:blipFill>
        <p:spPr bwMode="auto">
          <a:xfrm>
            <a:off x="0" y="3230"/>
            <a:ext cx="14630400" cy="82263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a:extLst>
              <a:ext uri="{FF2B5EF4-FFF2-40B4-BE49-F238E27FC236}">
                <a16:creationId xmlns:a16="http://schemas.microsoft.com/office/drawing/2014/main" id="{224CE121-697A-4943-AD7F-0C3307F3CEA0}"/>
              </a:ext>
            </a:extLst>
          </p:cNvPr>
          <p:cNvSpPr>
            <a:spLocks noChangeArrowheads="1"/>
          </p:cNvSpPr>
          <p:nvPr/>
        </p:nvSpPr>
        <p:spPr bwMode="auto">
          <a:xfrm>
            <a:off x="2138290" y="2811392"/>
            <a:ext cx="295530" cy="679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46304" tIns="73152" rIns="146304" bIns="73152" numCol="1" anchor="ctr" anchorCtr="0" compatLnSpc="1">
            <a:prstTxWarp prst="textNoShape">
              <a:avLst/>
            </a:prstTxWarp>
            <a:spAutoFit/>
          </a:bodyPr>
          <a:lstStyle/>
          <a:p>
            <a:endParaRPr lang="en-EG" sz="3456" b="1">
              <a:solidFill>
                <a:schemeClr val="bg2"/>
              </a:solidFill>
              <a:latin typeface="Calibri" panose="020F0502020204030204" pitchFamily="34" charset="0"/>
              <a:cs typeface="Calibri" panose="020F0502020204030204" pitchFamily="34" charset="0"/>
            </a:endParaRPr>
          </a:p>
        </p:txBody>
      </p:sp>
      <p:sp>
        <p:nvSpPr>
          <p:cNvPr id="6" name="Rectangle 6">
            <a:extLst>
              <a:ext uri="{FF2B5EF4-FFF2-40B4-BE49-F238E27FC236}">
                <a16:creationId xmlns:a16="http://schemas.microsoft.com/office/drawing/2014/main" id="{C9F683B6-CF41-EC42-BFCB-802BCC74C2BD}"/>
              </a:ext>
            </a:extLst>
          </p:cNvPr>
          <p:cNvSpPr>
            <a:spLocks noChangeArrowheads="1"/>
          </p:cNvSpPr>
          <p:nvPr/>
        </p:nvSpPr>
        <p:spPr bwMode="auto">
          <a:xfrm>
            <a:off x="685800" y="1939742"/>
            <a:ext cx="10631323" cy="310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6304" tIns="73152" rIns="146304" bIns="73152" numCol="1" anchor="ctr" anchorCtr="0" compatLnSpc="1">
            <a:prstTxWarp prst="textNoShape">
              <a:avLst/>
            </a:prstTxWarp>
            <a:spAutoFit/>
          </a:bodyPr>
          <a:lstStyle/>
          <a:p>
            <a:pPr algn="ctr" defTabSz="1463040" eaLnBrk="0" fontAlgn="base" hangingPunct="0">
              <a:spcBef>
                <a:spcPct val="0"/>
              </a:spcBef>
              <a:spcAft>
                <a:spcPct val="0"/>
              </a:spcAft>
            </a:pPr>
            <a:endPar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defTabSz="1463040" eaLnBrk="0" fontAlgn="base" hangingPunct="0">
              <a:spcBef>
                <a:spcPct val="0"/>
              </a:spcBef>
              <a:spcAft>
                <a:spcPct val="0"/>
              </a:spcAft>
            </a:pPr>
            <a:endPar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defTabSz="1463040" eaLnBrk="0" fontAlgn="base" hangingPunct="0">
              <a:spcBef>
                <a:spcPct val="0"/>
              </a:spcBef>
              <a:spcAft>
                <a:spcPct val="0"/>
              </a:spcAft>
            </a:pPr>
            <a:r>
              <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rPr>
              <a:t>Quantum Risk </a:t>
            </a:r>
            <a:r>
              <a:rPr lang="en-US" altLang="en-EG" sz="4800" b="1">
                <a:solidFill>
                  <a:schemeClr val="bg2"/>
                </a:solidFill>
                <a:latin typeface="Calibri" panose="020F0502020204030204" pitchFamily="34" charset="0"/>
                <a:ea typeface="Calibri" panose="020F0502020204030204" pitchFamily="34" charset="0"/>
                <a:cs typeface="Calibri" panose="020F0502020204030204" pitchFamily="34" charset="0"/>
              </a:rPr>
              <a:t>Assesment</a:t>
            </a:r>
            <a:endParaRPr lang="en-US" altLang="en-EG" sz="44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548640" indent="-548640" algn="ctr" defTabSz="1463040" eaLnBrk="0" fontAlgn="base" hangingPunct="0">
              <a:spcBef>
                <a:spcPct val="0"/>
              </a:spcBef>
              <a:spcAft>
                <a:spcPct val="0"/>
              </a:spcAft>
              <a:buFont typeface="Arial" panose="020B0604020202020204" pitchFamily="34" charset="0"/>
              <a:buChar char="•"/>
            </a:pPr>
            <a:endParaRPr lang="en-US" altLang="en-EG" sz="48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487E5AA0-F497-DBCD-1D5F-C4044F14C94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522200" y="176912"/>
            <a:ext cx="1955800" cy="1623885"/>
          </a:xfrm>
          <a:prstGeom prst="rect">
            <a:avLst/>
          </a:prstGeom>
          <a:ln w="25400">
            <a:solidFill>
              <a:schemeClr val="accent1"/>
            </a:solidFill>
          </a:ln>
        </p:spPr>
      </p:pic>
      <p:pic>
        <p:nvPicPr>
          <p:cNvPr id="3" name="Picture 2">
            <a:extLst>
              <a:ext uri="{FF2B5EF4-FFF2-40B4-BE49-F238E27FC236}">
                <a16:creationId xmlns:a16="http://schemas.microsoft.com/office/drawing/2014/main" id="{ACAEE086-4657-B556-E80D-BDD301CF0FC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522200" y="1752600"/>
            <a:ext cx="1955800" cy="912037"/>
          </a:xfrm>
          <a:prstGeom prst="rect">
            <a:avLst/>
          </a:prstGeom>
          <a:ln w="25400">
            <a:solidFill>
              <a:schemeClr val="accent1"/>
            </a:solidFill>
          </a:ln>
        </p:spPr>
      </p:pic>
      <p:pic>
        <p:nvPicPr>
          <p:cNvPr id="4" name="Picture 3">
            <a:extLst>
              <a:ext uri="{FF2B5EF4-FFF2-40B4-BE49-F238E27FC236}">
                <a16:creationId xmlns:a16="http://schemas.microsoft.com/office/drawing/2014/main" id="{5C10824D-EF16-F3D8-9D05-A0FBB8C349E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2522200" y="2590800"/>
            <a:ext cx="1955800" cy="954103"/>
          </a:xfrm>
          <a:prstGeom prst="rect">
            <a:avLst/>
          </a:prstGeom>
          <a:solidFill>
            <a:schemeClr val="bg2"/>
          </a:solidFill>
          <a:ln w="25400">
            <a:solidFill>
              <a:schemeClr val="accent1"/>
            </a:solidFill>
          </a:ln>
        </p:spPr>
      </p:pic>
    </p:spTree>
    <p:extLst>
      <p:ext uri="{BB962C8B-B14F-4D97-AF65-F5344CB8AC3E}">
        <p14:creationId xmlns:p14="http://schemas.microsoft.com/office/powerpoint/2010/main" val="1614369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4A2C7-919A-944A-9099-B209B01E910B}"/>
              </a:ext>
            </a:extLst>
          </p:cNvPr>
          <p:cNvSpPr>
            <a:spLocks noGrp="1"/>
          </p:cNvSpPr>
          <p:nvPr>
            <p:ph type="title" idx="4294967295"/>
          </p:nvPr>
        </p:nvSpPr>
        <p:spPr>
          <a:xfrm>
            <a:off x="448018" y="247821"/>
            <a:ext cx="13225779" cy="640080"/>
          </a:xfrm>
        </p:spPr>
        <p:txBody>
          <a:bodyPr>
            <a:noAutofit/>
          </a:bodyPr>
          <a:lstStyle/>
          <a:p>
            <a:r>
              <a:rPr lang="en-US" sz="3200" b="1" dirty="0"/>
              <a:t>Triangle of Quantum Security (QC + PQC + QRNG)</a:t>
            </a:r>
            <a:br>
              <a:rPr lang="en-US" sz="2800" dirty="0"/>
            </a:br>
            <a:br>
              <a:rPr lang="en-US" sz="2800" dirty="0"/>
            </a:br>
            <a:endParaRPr lang="en-US" sz="4000" dirty="0"/>
          </a:p>
        </p:txBody>
      </p:sp>
      <p:graphicFrame>
        <p:nvGraphicFramePr>
          <p:cNvPr id="2" name="Table 1">
            <a:extLst>
              <a:ext uri="{FF2B5EF4-FFF2-40B4-BE49-F238E27FC236}">
                <a16:creationId xmlns:a16="http://schemas.microsoft.com/office/drawing/2014/main" id="{6CEC9ECD-F542-6E0E-7C5B-71DA66EDB038}"/>
              </a:ext>
            </a:extLst>
          </p:cNvPr>
          <p:cNvGraphicFramePr>
            <a:graphicFrameLocks noGrp="1"/>
          </p:cNvGraphicFramePr>
          <p:nvPr>
            <p:extLst>
              <p:ext uri="{D42A27DB-BD31-4B8C-83A1-F6EECF244321}">
                <p14:modId xmlns:p14="http://schemas.microsoft.com/office/powerpoint/2010/main" val="3663207211"/>
              </p:ext>
            </p:extLst>
          </p:nvPr>
        </p:nvGraphicFramePr>
        <p:xfrm>
          <a:off x="254000" y="1460500"/>
          <a:ext cx="8661400" cy="5308599"/>
        </p:xfrm>
        <a:graphic>
          <a:graphicData uri="http://schemas.openxmlformats.org/drawingml/2006/table">
            <a:tbl>
              <a:tblPr>
                <a:tableStyleId>{5C22544A-7EE6-4342-B048-85BDC9FD1C3A}</a:tableStyleId>
              </a:tblPr>
              <a:tblGrid>
                <a:gridCol w="1687285">
                  <a:extLst>
                    <a:ext uri="{9D8B030D-6E8A-4147-A177-3AD203B41FA5}">
                      <a16:colId xmlns:a16="http://schemas.microsoft.com/office/drawing/2014/main" val="4097712625"/>
                    </a:ext>
                  </a:extLst>
                </a:gridCol>
                <a:gridCol w="2310283">
                  <a:extLst>
                    <a:ext uri="{9D8B030D-6E8A-4147-A177-3AD203B41FA5}">
                      <a16:colId xmlns:a16="http://schemas.microsoft.com/office/drawing/2014/main" val="6841859"/>
                    </a:ext>
                  </a:extLst>
                </a:gridCol>
                <a:gridCol w="2414117">
                  <a:extLst>
                    <a:ext uri="{9D8B030D-6E8A-4147-A177-3AD203B41FA5}">
                      <a16:colId xmlns:a16="http://schemas.microsoft.com/office/drawing/2014/main" val="1730800643"/>
                    </a:ext>
                  </a:extLst>
                </a:gridCol>
                <a:gridCol w="2249715">
                  <a:extLst>
                    <a:ext uri="{9D8B030D-6E8A-4147-A177-3AD203B41FA5}">
                      <a16:colId xmlns:a16="http://schemas.microsoft.com/office/drawing/2014/main" val="225152381"/>
                    </a:ext>
                  </a:extLst>
                </a:gridCol>
              </a:tblGrid>
              <a:tr h="1344846">
                <a:tc>
                  <a:txBody>
                    <a:bodyPr/>
                    <a:lstStyle/>
                    <a:p>
                      <a:pPr algn="ctr" fontAlgn="ctr"/>
                      <a:r>
                        <a:rPr lang="en-US" sz="1800" b="1" u="none" strike="noStrike" dirty="0">
                          <a:effectLst/>
                        </a:rPr>
                        <a:t>Security Dimension</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ctr" fontAlgn="ctr"/>
                      <a:r>
                        <a:rPr lang="en-US" sz="1800" b="1" u="none" strike="noStrike" dirty="0">
                          <a:effectLst/>
                        </a:rPr>
                        <a:t>Quantum Cryptography (QC)</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ctr" fontAlgn="ctr"/>
                      <a:r>
                        <a:rPr lang="en-US" sz="1800" b="1" u="none" strike="noStrike" dirty="0">
                          <a:effectLst/>
                        </a:rPr>
                        <a:t>Post-Quantum Cryptography (PQC)</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ctr" fontAlgn="ctr"/>
                      <a:r>
                        <a:rPr lang="en-US" sz="1800" b="1" u="none" strike="noStrike" dirty="0">
                          <a:effectLst/>
                        </a:rPr>
                        <a:t>Quantum Random Number Generators (QRNG)</a:t>
                      </a:r>
                      <a:endParaRPr lang="en-US" sz="1800" b="1"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3034294499"/>
                  </a:ext>
                </a:extLst>
              </a:tr>
              <a:tr h="1038125">
                <a:tc>
                  <a:txBody>
                    <a:bodyPr/>
                    <a:lstStyle/>
                    <a:p>
                      <a:pPr algn="ctr" fontAlgn="ctr"/>
                      <a:r>
                        <a:rPr lang="en-US" sz="1800" b="1" u="none" strike="noStrike" dirty="0">
                          <a:effectLst/>
                        </a:rPr>
                        <a:t>Principle</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Uses principles of quantum mechanics for security (</a:t>
                      </a:r>
                      <a:r>
                        <a:rPr lang="en-US" sz="1600" b="1" u="none" strike="noStrike" dirty="0">
                          <a:effectLst/>
                        </a:rPr>
                        <a:t>Quantum Communications</a:t>
                      </a:r>
                      <a:r>
                        <a:rPr lang="en-US" sz="1600" u="none" strike="noStrike" dirty="0">
                          <a:effectLst/>
                        </a:rPr>
                        <a:t>)</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Develops </a:t>
                      </a:r>
                      <a:r>
                        <a:rPr lang="en-US" sz="1600" b="1" u="none" strike="noStrike" dirty="0">
                          <a:effectLst/>
                        </a:rPr>
                        <a:t>algorithms</a:t>
                      </a:r>
                      <a:r>
                        <a:rPr lang="en-US" sz="1600" u="none" strike="noStrike" dirty="0">
                          <a:effectLst/>
                        </a:rPr>
                        <a:t> secure against quantum computer attacks</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Uses quantum phenomena to generate true </a:t>
                      </a:r>
                      <a:r>
                        <a:rPr lang="en-US" sz="1600" b="1" u="none" strike="noStrike" dirty="0">
                          <a:effectLst/>
                        </a:rPr>
                        <a:t>random numbers</a:t>
                      </a:r>
                      <a:endParaRPr lang="en-US" sz="1600" b="1"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557376065"/>
                  </a:ext>
                </a:extLst>
              </a:tr>
              <a:tr h="802188">
                <a:tc>
                  <a:txBody>
                    <a:bodyPr/>
                    <a:lstStyle/>
                    <a:p>
                      <a:pPr algn="ctr" fontAlgn="ctr"/>
                      <a:r>
                        <a:rPr lang="en-US" sz="1800" b="1" u="none" strike="noStrike" dirty="0">
                          <a:effectLst/>
                        </a:rPr>
                        <a:t>Technology</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Requires </a:t>
                      </a:r>
                      <a:r>
                        <a:rPr lang="en-US" sz="1600" b="1" u="none" strike="noStrike" dirty="0">
                          <a:effectLst/>
                        </a:rPr>
                        <a:t>quantum hardware</a:t>
                      </a:r>
                      <a:r>
                        <a:rPr lang="en-US" sz="1600" u="none" strike="noStrike" dirty="0">
                          <a:effectLst/>
                        </a:rPr>
                        <a:t> (e.g., </a:t>
                      </a:r>
                      <a:r>
                        <a:rPr lang="en-US" sz="1600" b="1" u="none" strike="noStrike" dirty="0">
                          <a:effectLst/>
                        </a:rPr>
                        <a:t>QKD</a:t>
                      </a:r>
                      <a:r>
                        <a:rPr lang="en-US" sz="1600" u="none" strike="noStrike" dirty="0">
                          <a:effectLst/>
                        </a:rPr>
                        <a:t> systems)</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Can be implemented on </a:t>
                      </a:r>
                      <a:r>
                        <a:rPr lang="en-US" sz="1600" b="1" u="none" strike="noStrike" dirty="0">
                          <a:effectLst/>
                        </a:rPr>
                        <a:t>classical computers</a:t>
                      </a:r>
                      <a:endParaRPr lang="en-US" sz="16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Based on quantum mechanical processes (e.g., </a:t>
                      </a:r>
                      <a:r>
                        <a:rPr lang="en-US" sz="1600" b="1" u="none" strike="noStrike" dirty="0">
                          <a:effectLst/>
                        </a:rPr>
                        <a:t>photon behavior</a:t>
                      </a:r>
                      <a:r>
                        <a:rPr lang="en-US" sz="1600" u="none" strike="noStrike" dirty="0">
                          <a:effectLst/>
                        </a:rPr>
                        <a:t>)</a:t>
                      </a:r>
                      <a:endParaRPr lang="en-US" sz="1600" b="0"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2949478282"/>
                  </a:ext>
                </a:extLst>
              </a:tr>
              <a:tr h="1061720">
                <a:tc>
                  <a:txBody>
                    <a:bodyPr/>
                    <a:lstStyle/>
                    <a:p>
                      <a:pPr algn="ctr" fontAlgn="ctr"/>
                      <a:r>
                        <a:rPr lang="en-US" sz="1800" b="1" u="none" strike="noStrike" dirty="0">
                          <a:effectLst/>
                        </a:rPr>
                        <a:t>Examples</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Quantum Key Distribution (</a:t>
                      </a:r>
                      <a:r>
                        <a:rPr lang="en-US" sz="1600" b="1" u="none" strike="noStrike" dirty="0">
                          <a:effectLst/>
                        </a:rPr>
                        <a:t>QKD</a:t>
                      </a:r>
                      <a:r>
                        <a:rPr lang="en-US" sz="1600" u="none" strike="noStrike" dirty="0">
                          <a:effectLst/>
                        </a:rPr>
                        <a:t>) like BB84, </a:t>
                      </a:r>
                      <a:r>
                        <a:rPr lang="en-US" sz="1600" u="none" strike="noStrike" dirty="0" err="1">
                          <a:effectLst/>
                        </a:rPr>
                        <a:t>E91</a:t>
                      </a:r>
                      <a:r>
                        <a:rPr lang="en-US" sz="1600" u="none" strike="noStrike" dirty="0">
                          <a:effectLst/>
                        </a:rPr>
                        <a:t>, … etc.</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a:effectLst/>
                        </a:rPr>
                        <a:t>Lattice-based (Kyber, Dilithium), Code-based (McEliece), Hash-based (SPHINCS+)</a:t>
                      </a:r>
                      <a:endParaRPr lang="en-US" sz="1600" b="0" i="0" u="none" strike="noStrike">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Devices generating </a:t>
                      </a:r>
                      <a:r>
                        <a:rPr lang="en-US" sz="1600" b="1" u="none" strike="noStrike" dirty="0">
                          <a:effectLst/>
                        </a:rPr>
                        <a:t>true  randomness</a:t>
                      </a:r>
                      <a:r>
                        <a:rPr lang="en-US" sz="1600" u="none" strike="noStrike" dirty="0">
                          <a:effectLst/>
                        </a:rPr>
                        <a:t> from quantum states of particles</a:t>
                      </a:r>
                      <a:endParaRPr lang="en-US" sz="1600" b="0"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675604362"/>
                  </a:ext>
                </a:extLst>
              </a:tr>
              <a:tr h="1061720">
                <a:tc>
                  <a:txBody>
                    <a:bodyPr/>
                    <a:lstStyle/>
                    <a:p>
                      <a:pPr algn="ctr" fontAlgn="ctr"/>
                      <a:r>
                        <a:rPr lang="en-US" sz="1800" b="1" u="none" strike="noStrike" dirty="0">
                          <a:effectLst/>
                        </a:rPr>
                        <a:t>Example </a:t>
                      </a:r>
                    </a:p>
                    <a:p>
                      <a:pPr algn="ctr" fontAlgn="ctr"/>
                      <a:r>
                        <a:rPr lang="en-US" sz="1800" b="1" u="none" strike="noStrike" dirty="0">
                          <a:effectLst/>
                        </a:rPr>
                        <a:t>(Bank Vault)</a:t>
                      </a:r>
                      <a:endParaRPr lang="en-US" sz="1800" b="1"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Super secure </a:t>
                      </a:r>
                      <a:r>
                        <a:rPr lang="en-US" sz="1600" b="1" u="none" strike="noStrike" dirty="0">
                          <a:effectLst/>
                        </a:rPr>
                        <a:t>one-time delivery</a:t>
                      </a:r>
                      <a:r>
                        <a:rPr lang="en-US" sz="1600" u="none" strike="noStrike" dirty="0">
                          <a:effectLst/>
                        </a:rPr>
                        <a:t> of the combination code (</a:t>
                      </a:r>
                      <a:r>
                        <a:rPr lang="en-US" sz="1600" b="1" u="none" strike="noStrike" dirty="0">
                          <a:effectLst/>
                        </a:rPr>
                        <a:t>key</a:t>
                      </a:r>
                      <a:r>
                        <a:rPr lang="en-US" sz="1600" u="none" strike="noStrike" dirty="0">
                          <a:effectLst/>
                        </a:rPr>
                        <a:t>) for the vault </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Replacing the existing lock on the </a:t>
                      </a:r>
                      <a:r>
                        <a:rPr lang="en-US" sz="1600" b="1" u="none" strike="noStrike" dirty="0">
                          <a:effectLst/>
                        </a:rPr>
                        <a:t>vault</a:t>
                      </a:r>
                      <a:r>
                        <a:rPr lang="en-US" sz="1600" u="none" strike="noStrike" dirty="0">
                          <a:effectLst/>
                        </a:rPr>
                        <a:t> with a new, </a:t>
                      </a:r>
                      <a:r>
                        <a:rPr lang="en-US" sz="1600" b="1" u="none" strike="noStrike" dirty="0">
                          <a:effectLst/>
                        </a:rPr>
                        <a:t>resistant</a:t>
                      </a:r>
                      <a:r>
                        <a:rPr lang="en-US" sz="1600" u="none" strike="noStrike" dirty="0">
                          <a:effectLst/>
                        </a:rPr>
                        <a:t> to quantum computers</a:t>
                      </a:r>
                      <a:endParaRPr lang="en-US" sz="1600" b="0" i="0" u="none" strike="noStrike" dirty="0">
                        <a:solidFill>
                          <a:srgbClr val="000000"/>
                        </a:solidFill>
                        <a:effectLst/>
                        <a:latin typeface="Calibri" panose="020F0502020204030204" pitchFamily="34" charset="0"/>
                      </a:endParaRPr>
                    </a:p>
                  </a:txBody>
                  <a:tcPr marL="6583" marR="6583" marT="6583" marB="0" anchor="ctr"/>
                </a:tc>
                <a:tc>
                  <a:txBody>
                    <a:bodyPr/>
                    <a:lstStyle/>
                    <a:p>
                      <a:pPr algn="l" fontAlgn="ctr"/>
                      <a:r>
                        <a:rPr lang="en-US" sz="1600" u="none" strike="noStrike" dirty="0">
                          <a:effectLst/>
                        </a:rPr>
                        <a:t>Generating </a:t>
                      </a:r>
                      <a:r>
                        <a:rPr lang="en-US" sz="1600" b="1" u="none" strike="noStrike" dirty="0">
                          <a:effectLst/>
                        </a:rPr>
                        <a:t>true random</a:t>
                      </a:r>
                      <a:r>
                        <a:rPr lang="en-US" sz="1600" u="none" strike="noStrike" dirty="0">
                          <a:effectLst/>
                        </a:rPr>
                        <a:t> numbers for the combination code (</a:t>
                      </a:r>
                      <a:r>
                        <a:rPr lang="en-US" sz="1600" b="1" u="none" strike="noStrike" dirty="0">
                          <a:effectLst/>
                        </a:rPr>
                        <a:t>keys</a:t>
                      </a:r>
                      <a:r>
                        <a:rPr lang="en-US" sz="1600" u="none" strike="noStrike" dirty="0">
                          <a:effectLst/>
                        </a:rPr>
                        <a:t>) using photons</a:t>
                      </a:r>
                      <a:endParaRPr lang="en-US" sz="1600" b="0" i="0" u="none" strike="noStrike" dirty="0">
                        <a:solidFill>
                          <a:srgbClr val="000000"/>
                        </a:solidFill>
                        <a:effectLst/>
                        <a:latin typeface="Calibri" panose="020F0502020204030204" pitchFamily="34" charset="0"/>
                      </a:endParaRPr>
                    </a:p>
                  </a:txBody>
                  <a:tcPr marL="6583" marR="6583" marT="6583" marB="0" anchor="ctr"/>
                </a:tc>
                <a:extLst>
                  <a:ext uri="{0D108BD9-81ED-4DB2-BD59-A6C34878D82A}">
                    <a16:rowId xmlns:a16="http://schemas.microsoft.com/office/drawing/2014/main" val="2563656512"/>
                  </a:ext>
                </a:extLst>
              </a:tr>
            </a:tbl>
          </a:graphicData>
        </a:graphic>
      </p:graphicFrame>
      <p:pic>
        <p:nvPicPr>
          <p:cNvPr id="5" name="Picture 4">
            <a:extLst>
              <a:ext uri="{FF2B5EF4-FFF2-40B4-BE49-F238E27FC236}">
                <a16:creationId xmlns:a16="http://schemas.microsoft.com/office/drawing/2014/main" id="{35900EDF-B158-FF2F-BB68-BED4C1B3E03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067800" y="1460500"/>
            <a:ext cx="5308600" cy="5308600"/>
          </a:xfrm>
          <a:prstGeom prst="rect">
            <a:avLst/>
          </a:prstGeom>
        </p:spPr>
      </p:pic>
      <p:sp>
        <p:nvSpPr>
          <p:cNvPr id="6" name="TextBox 5">
            <a:extLst>
              <a:ext uri="{FF2B5EF4-FFF2-40B4-BE49-F238E27FC236}">
                <a16:creationId xmlns:a16="http://schemas.microsoft.com/office/drawing/2014/main" id="{DCB212A5-0FF8-19AA-239E-8558B3E56EFE}"/>
              </a:ext>
            </a:extLst>
          </p:cNvPr>
          <p:cNvSpPr txBox="1"/>
          <p:nvPr/>
        </p:nvSpPr>
        <p:spPr>
          <a:xfrm>
            <a:off x="3792511" y="5186597"/>
            <a:ext cx="0" cy="0"/>
          </a:xfrm>
          <a:prstGeom prst="rect">
            <a:avLst/>
          </a:prstGeom>
        </p:spPr>
        <p:txBody>
          <a:bodyPr wrap="none" lIns="0" tIns="0" rIns="0" bIns="0" rtlCol="0">
            <a:noAutofit/>
          </a:bodyPr>
          <a:lstStyle/>
          <a:p>
            <a:pPr>
              <a:lnSpc>
                <a:spcPct val="105000"/>
              </a:lnSpc>
              <a:spcBef>
                <a:spcPts val="1000"/>
              </a:spcBef>
            </a:pPr>
            <a:endParaRPr lang="en-EG" sz="2000" dirty="0" err="1">
              <a:solidFill>
                <a:schemeClr val="tx1"/>
              </a:solidFill>
              <a:latin typeface="IBM Plex Sans" charset="0"/>
              <a:ea typeface="IBM Plex Sans" charset="0"/>
              <a:cs typeface="IBM Plex Sans" charset="0"/>
            </a:endParaRPr>
          </a:p>
        </p:txBody>
      </p:sp>
    </p:spTree>
    <p:extLst>
      <p:ext uri="{BB962C8B-B14F-4D97-AF65-F5344CB8AC3E}">
        <p14:creationId xmlns:p14="http://schemas.microsoft.com/office/powerpoint/2010/main" val="3099148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02885A-5E5B-7C09-3E6E-6C2AAFBBFB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876800" y="5645900"/>
            <a:ext cx="9677400" cy="2583700"/>
          </a:xfrm>
          <a:prstGeom prst="rect">
            <a:avLst/>
          </a:prstGeom>
        </p:spPr>
      </p:pic>
      <p:sp>
        <p:nvSpPr>
          <p:cNvPr id="2" name="TextShape 1">
            <a:extLst>
              <a:ext uri="{FF2B5EF4-FFF2-40B4-BE49-F238E27FC236}">
                <a16:creationId xmlns:a16="http://schemas.microsoft.com/office/drawing/2014/main" id="{C324728C-E530-5F44-BB21-52D02E592F91}"/>
              </a:ext>
            </a:extLst>
          </p:cNvPr>
          <p:cNvSpPr txBox="1"/>
          <p:nvPr/>
        </p:nvSpPr>
        <p:spPr>
          <a:xfrm>
            <a:off x="336528" y="333833"/>
            <a:ext cx="13718250" cy="865381"/>
          </a:xfrm>
          <a:prstGeom prst="rect">
            <a:avLst/>
          </a:prstGeom>
          <a:noFill/>
          <a:ln>
            <a:noFill/>
          </a:ln>
        </p:spPr>
        <p:txBody>
          <a:bodyPr lIns="0" tIns="0" rIns="0" bIns="0">
            <a:noAutofit/>
          </a:bodyPr>
          <a:lstStyle/>
          <a:p>
            <a:pPr>
              <a:lnSpc>
                <a:spcPct val="90000"/>
              </a:lnSpc>
              <a:defRPr/>
            </a:pPr>
            <a:r>
              <a:rPr lang="en-US" sz="3840" b="1" spc="-2" dirty="0">
                <a:solidFill>
                  <a:srgbClr val="000000"/>
                </a:solidFill>
                <a:latin typeface="Calibri" panose="020F0502020204030204" pitchFamily="34" charset="0"/>
                <a:ea typeface="IBM Plex Sans"/>
                <a:cs typeface="Calibri" panose="020F0502020204030204" pitchFamily="34" charset="0"/>
              </a:rPr>
              <a:t>Problem Statement – </a:t>
            </a:r>
            <a:r>
              <a:rPr lang="en-US" sz="3200" b="1" spc="-2" dirty="0">
                <a:solidFill>
                  <a:srgbClr val="000000"/>
                </a:solidFill>
                <a:latin typeface="Calibri" panose="020F0502020204030204" pitchFamily="34" charset="0"/>
                <a:ea typeface="IBM Plex Sans"/>
                <a:cs typeface="Calibri" panose="020F0502020204030204" pitchFamily="34" charset="0"/>
              </a:rPr>
              <a:t>Cybersecurity Threats of Quantum Computing</a:t>
            </a:r>
          </a:p>
          <a:p>
            <a:pPr>
              <a:lnSpc>
                <a:spcPct val="90000"/>
              </a:lnSpc>
              <a:defRPr/>
            </a:pPr>
            <a:endParaRPr lang="en-US" sz="3840" spc="-2" dirty="0">
              <a:solidFill>
                <a:srgbClr val="000000"/>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2334014-EF1C-9842-D386-88F862B0851F}"/>
              </a:ext>
            </a:extLst>
          </p:cNvPr>
          <p:cNvSpPr txBox="1"/>
          <p:nvPr/>
        </p:nvSpPr>
        <p:spPr>
          <a:xfrm>
            <a:off x="336528" y="1143000"/>
            <a:ext cx="13857773" cy="6789551"/>
          </a:xfrm>
          <a:prstGeom prst="rect">
            <a:avLst/>
          </a:prstGeom>
          <a:noFill/>
        </p:spPr>
        <p:txBody>
          <a:bodyPr wrap="square">
            <a:spAutoFit/>
          </a:bodyPr>
          <a:lstStyle/>
          <a:p>
            <a:pPr marL="457200" indent="-457200" defTabSz="731520">
              <a:buFont typeface="Arial" panose="020B0604020202020204" pitchFamily="34" charset="0"/>
              <a:buChar char="•"/>
            </a:pPr>
            <a:r>
              <a:rPr lang="en-US" sz="2560" dirty="0">
                <a:solidFill>
                  <a:srgbClr val="000000"/>
                </a:solidFill>
                <a:latin typeface="Arial"/>
              </a:rPr>
              <a:t>Cryptographically Relevant Quantum Computers (</a:t>
            </a:r>
            <a:r>
              <a:rPr lang="en-US" sz="2560" b="1" dirty="0">
                <a:solidFill>
                  <a:srgbClr val="000000"/>
                </a:solidFill>
                <a:latin typeface="Arial"/>
              </a:rPr>
              <a:t>CRQC</a:t>
            </a:r>
            <a:r>
              <a:rPr lang="en-US" sz="2560" dirty="0">
                <a:solidFill>
                  <a:srgbClr val="000000"/>
                </a:solidFill>
                <a:latin typeface="Arial"/>
              </a:rPr>
              <a:t>s) are emerging rapidly (</a:t>
            </a:r>
            <a:r>
              <a:rPr lang="en-US" sz="2560" b="1" dirty="0">
                <a:solidFill>
                  <a:srgbClr val="000000"/>
                </a:solidFill>
                <a:latin typeface="Arial"/>
              </a:rPr>
              <a:t>Q-Day</a:t>
            </a:r>
            <a:r>
              <a:rPr lang="en-US" sz="2560" dirty="0">
                <a:solidFill>
                  <a:srgbClr val="000000"/>
                </a:solidFill>
                <a:latin typeface="Arial"/>
              </a:rPr>
              <a:t>).</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Their increasing capacity (measured by </a:t>
            </a:r>
            <a:r>
              <a:rPr lang="en-US" sz="2560" b="1" dirty="0">
                <a:solidFill>
                  <a:srgbClr val="000000"/>
                </a:solidFill>
                <a:latin typeface="Arial"/>
              </a:rPr>
              <a:t>qubits</a:t>
            </a:r>
            <a:r>
              <a:rPr lang="en-US" sz="2560" dirty="0">
                <a:solidFill>
                  <a:srgbClr val="000000"/>
                </a:solidFill>
                <a:latin typeface="Arial"/>
              </a:rPr>
              <a:t>) and development pace pose a significant risk on current Cybersecurity. </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These quantum systems can decrypt widely used asymmetric security protocols like </a:t>
            </a:r>
            <a:r>
              <a:rPr lang="en-US" sz="2560" b="1" dirty="0">
                <a:solidFill>
                  <a:srgbClr val="000000"/>
                </a:solidFill>
                <a:latin typeface="Arial"/>
              </a:rPr>
              <a:t>RSA</a:t>
            </a:r>
            <a:r>
              <a:rPr lang="en-US" sz="2560" dirty="0">
                <a:solidFill>
                  <a:srgbClr val="000000"/>
                </a:solidFill>
                <a:latin typeface="Arial"/>
              </a:rPr>
              <a:t> or </a:t>
            </a:r>
            <a:r>
              <a:rPr lang="en-US" sz="2560" b="1" dirty="0">
                <a:solidFill>
                  <a:srgbClr val="000000"/>
                </a:solidFill>
                <a:latin typeface="Arial"/>
              </a:rPr>
              <a:t>Elliptical Curve </a:t>
            </a:r>
            <a:r>
              <a:rPr lang="en-US" sz="2560" dirty="0">
                <a:solidFill>
                  <a:srgbClr val="000000"/>
                </a:solidFill>
                <a:latin typeface="Arial"/>
              </a:rPr>
              <a:t>algorithms, or </a:t>
            </a:r>
            <a:r>
              <a:rPr lang="en-US" sz="2560" b="1" dirty="0">
                <a:solidFill>
                  <a:srgbClr val="000000"/>
                </a:solidFill>
                <a:latin typeface="Arial"/>
              </a:rPr>
              <a:t>AES</a:t>
            </a:r>
            <a:r>
              <a:rPr lang="en-US" sz="2560" dirty="0">
                <a:solidFill>
                  <a:srgbClr val="000000"/>
                </a:solidFill>
                <a:latin typeface="Arial"/>
              </a:rPr>
              <a:t> (just few months ago).</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Migration and secrecy maintenance time </a:t>
            </a:r>
            <a:r>
              <a:rPr lang="en-US" sz="2560" b="1" dirty="0">
                <a:solidFill>
                  <a:srgbClr val="000000"/>
                </a:solidFill>
                <a:latin typeface="Arial"/>
              </a:rPr>
              <a:t>exceed</a:t>
            </a:r>
            <a:r>
              <a:rPr lang="en-US" sz="2560" dirty="0">
                <a:solidFill>
                  <a:srgbClr val="000000"/>
                </a:solidFill>
                <a:latin typeface="Arial"/>
              </a:rPr>
              <a:t> the expected arrival time of </a:t>
            </a:r>
            <a:r>
              <a:rPr lang="en-US" sz="2560" b="1" dirty="0">
                <a:solidFill>
                  <a:srgbClr val="000000"/>
                </a:solidFill>
                <a:latin typeface="Arial"/>
              </a:rPr>
              <a:t>CRQC</a:t>
            </a:r>
            <a:r>
              <a:rPr lang="en-US" sz="2560" dirty="0">
                <a:solidFill>
                  <a:srgbClr val="000000"/>
                </a:solidFill>
                <a:latin typeface="Arial"/>
              </a:rPr>
              <a:t>s</a:t>
            </a:r>
          </a:p>
          <a:p>
            <a:pPr marL="457200" indent="-457200" defTabSz="731520">
              <a:buFont typeface="Arial" panose="020B0604020202020204" pitchFamily="34" charset="0"/>
              <a:buChar char="•"/>
            </a:pPr>
            <a:endParaRPr lang="en-US" sz="2560" dirty="0">
              <a:solidFill>
                <a:srgbClr val="000000"/>
              </a:solidFill>
              <a:latin typeface="Arial"/>
            </a:endParaRPr>
          </a:p>
          <a:p>
            <a:pPr marL="457200" indent="-457200" defTabSz="731520">
              <a:buFont typeface="Arial" panose="020B0604020202020204" pitchFamily="34" charset="0"/>
              <a:buChar char="•"/>
            </a:pPr>
            <a:r>
              <a:rPr lang="en-US" sz="2560" dirty="0">
                <a:solidFill>
                  <a:srgbClr val="000000"/>
                </a:solidFill>
                <a:latin typeface="Arial"/>
              </a:rPr>
              <a:t>New legal regulations and directives are established in the US, EU, and China to address cryptographic concerns.</a:t>
            </a:r>
          </a:p>
          <a:p>
            <a:pPr marL="457200" indent="-457200" defTabSz="731520">
              <a:buFont typeface="Arial" panose="020B0604020202020204" pitchFamily="34" charset="0"/>
              <a:buChar char="•"/>
            </a:pPr>
            <a:endParaRPr lang="en-US" sz="2560" dirty="0">
              <a:solidFill>
                <a:srgbClr val="000000"/>
              </a:solidFill>
              <a:latin typeface="Arial"/>
            </a:endParaRPr>
          </a:p>
          <a:p>
            <a:pPr defTabSz="731520"/>
            <a:endParaRPr lang="en-US" sz="2560" dirty="0">
              <a:solidFill>
                <a:srgbClr val="000000"/>
              </a:solidFill>
              <a:latin typeface="Arial"/>
            </a:endParaRPr>
          </a:p>
          <a:p>
            <a:pPr defTabSz="731520"/>
            <a:r>
              <a:rPr lang="en-US" sz="2560" dirty="0">
                <a:solidFill>
                  <a:srgbClr val="000000"/>
                </a:solidFill>
                <a:latin typeface="Arial"/>
              </a:rPr>
              <a:t>     </a:t>
            </a:r>
            <a:r>
              <a:rPr lang="en-US" sz="2560" b="1" i="1" dirty="0">
                <a:solidFill>
                  <a:srgbClr val="000000"/>
                </a:solidFill>
                <a:latin typeface="Arial"/>
              </a:rPr>
              <a:t>Mosca Theorem (x + y &gt; z)</a:t>
            </a:r>
          </a:p>
          <a:p>
            <a:pPr defTabSz="731520"/>
            <a:endParaRPr lang="en-US" sz="2560" dirty="0">
              <a:solidFill>
                <a:srgbClr val="000000"/>
              </a:solidFill>
              <a:latin typeface="Arial"/>
            </a:endParaRPr>
          </a:p>
          <a:p>
            <a:pPr defTabSz="731520"/>
            <a:endParaRPr lang="en-US" sz="2560" dirty="0">
              <a:solidFill>
                <a:srgbClr val="000000"/>
              </a:solidFill>
              <a:latin typeface="Arial"/>
            </a:endParaRPr>
          </a:p>
        </p:txBody>
      </p:sp>
    </p:spTree>
    <p:extLst>
      <p:ext uri="{BB962C8B-B14F-4D97-AF65-F5344CB8AC3E}">
        <p14:creationId xmlns:p14="http://schemas.microsoft.com/office/powerpoint/2010/main" val="949242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2015B-87C3-E9CA-DD91-B6B0B50CBF58}"/>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6E78C881-CE5B-A251-9854-B40FEB3CC7C5}"/>
              </a:ext>
            </a:extLst>
          </p:cNvPr>
          <p:cNvSpPr txBox="1"/>
          <p:nvPr/>
        </p:nvSpPr>
        <p:spPr>
          <a:xfrm>
            <a:off x="531150" y="333833"/>
            <a:ext cx="13718250" cy="865381"/>
          </a:xfrm>
          <a:prstGeom prst="rect">
            <a:avLst/>
          </a:prstGeom>
          <a:noFill/>
          <a:ln>
            <a:noFill/>
          </a:ln>
        </p:spPr>
        <p:txBody>
          <a:bodyPr lIns="0" tIns="0" rIns="0" bIns="0">
            <a:noAutofit/>
          </a:bodyPr>
          <a:lstStyle/>
          <a:p>
            <a:pPr>
              <a:lnSpc>
                <a:spcPct val="90000"/>
              </a:lnSpc>
              <a:defRPr/>
            </a:pPr>
            <a:r>
              <a:rPr lang="en-US" sz="3840" b="1" spc="-2" dirty="0">
                <a:solidFill>
                  <a:srgbClr val="000000"/>
                </a:solidFill>
                <a:latin typeface="Calibri" panose="020F0502020204030204" pitchFamily="34" charset="0"/>
                <a:ea typeface="IBM Plex Sans"/>
                <a:cs typeface="Calibri" panose="020F0502020204030204" pitchFamily="34" charset="0"/>
              </a:rPr>
              <a:t>History of Cryptographic Transitions</a:t>
            </a:r>
            <a:endParaRPr lang="en-US" sz="3200" b="1" spc="-2" dirty="0">
              <a:solidFill>
                <a:srgbClr val="000000"/>
              </a:solidFill>
              <a:latin typeface="Calibri" panose="020F0502020204030204" pitchFamily="34" charset="0"/>
              <a:ea typeface="IBM Plex Sans"/>
              <a:cs typeface="Calibri" panose="020F0502020204030204" pitchFamily="34" charset="0"/>
            </a:endParaRPr>
          </a:p>
          <a:p>
            <a:pPr>
              <a:lnSpc>
                <a:spcPct val="90000"/>
              </a:lnSpc>
              <a:defRPr/>
            </a:pPr>
            <a:endParaRPr lang="en-US" sz="3840" spc="-2" dirty="0">
              <a:solidFill>
                <a:srgbClr val="000000"/>
              </a:solidFill>
              <a:latin typeface="Calibri" panose="020F0502020204030204" pitchFamily="34" charset="0"/>
              <a:cs typeface="Calibri" panose="020F0502020204030204" pitchFamily="34" charset="0"/>
            </a:endParaRPr>
          </a:p>
        </p:txBody>
      </p:sp>
      <p:graphicFrame>
        <p:nvGraphicFramePr>
          <p:cNvPr id="33" name="Table 32">
            <a:extLst>
              <a:ext uri="{FF2B5EF4-FFF2-40B4-BE49-F238E27FC236}">
                <a16:creationId xmlns:a16="http://schemas.microsoft.com/office/drawing/2014/main" id="{544A055A-BD8F-41C8-9442-69E8FE1AE753}"/>
              </a:ext>
            </a:extLst>
          </p:cNvPr>
          <p:cNvGraphicFramePr>
            <a:graphicFrameLocks noGrp="1"/>
          </p:cNvGraphicFramePr>
          <p:nvPr>
            <p:extLst>
              <p:ext uri="{D42A27DB-BD31-4B8C-83A1-F6EECF244321}">
                <p14:modId xmlns:p14="http://schemas.microsoft.com/office/powerpoint/2010/main" val="2628977814"/>
              </p:ext>
            </p:extLst>
          </p:nvPr>
        </p:nvGraphicFramePr>
        <p:xfrm>
          <a:off x="533400" y="1199214"/>
          <a:ext cx="13521378" cy="6420784"/>
        </p:xfrm>
        <a:graphic>
          <a:graphicData uri="http://schemas.openxmlformats.org/drawingml/2006/table">
            <a:tbl>
              <a:tblPr/>
              <a:tblGrid>
                <a:gridCol w="3073459">
                  <a:extLst>
                    <a:ext uri="{9D8B030D-6E8A-4147-A177-3AD203B41FA5}">
                      <a16:colId xmlns:a16="http://schemas.microsoft.com/office/drawing/2014/main" val="3433033282"/>
                    </a:ext>
                  </a:extLst>
                </a:gridCol>
                <a:gridCol w="10447919">
                  <a:extLst>
                    <a:ext uri="{9D8B030D-6E8A-4147-A177-3AD203B41FA5}">
                      <a16:colId xmlns:a16="http://schemas.microsoft.com/office/drawing/2014/main" val="4203590510"/>
                    </a:ext>
                  </a:extLst>
                </a:gridCol>
              </a:tblGrid>
              <a:tr h="401299">
                <a:tc>
                  <a:txBody>
                    <a:bodyPr/>
                    <a:lstStyle/>
                    <a:p>
                      <a:pPr algn="ctr" fontAlgn="ctr"/>
                      <a:r>
                        <a:rPr lang="en-US" sz="2400" b="1" i="0" u="none" strike="noStrike">
                          <a:solidFill>
                            <a:srgbClr val="000000"/>
                          </a:solidFill>
                          <a:effectLst/>
                          <a:latin typeface="Aptos Narrow" panose="020B0004020202020204" pitchFamily="34" charset="0"/>
                        </a:rPr>
                        <a:t>Period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ctr" fontAlgn="ctr"/>
                      <a:r>
                        <a:rPr lang="en-US" sz="2400" b="1" i="0" u="none" strike="noStrike">
                          <a:solidFill>
                            <a:srgbClr val="000000"/>
                          </a:solidFill>
                          <a:effectLst/>
                          <a:latin typeface="Aptos Narrow" panose="020B0004020202020204" pitchFamily="34" charset="0"/>
                        </a:rPr>
                        <a:t>Event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6314751"/>
                  </a:ext>
                </a:extLst>
              </a:tr>
              <a:tr h="401299">
                <a:tc>
                  <a:txBody>
                    <a:bodyPr/>
                    <a:lstStyle/>
                    <a:p>
                      <a:pPr algn="ctr" fontAlgn="ctr"/>
                      <a:r>
                        <a:rPr lang="en-US" sz="2400" b="1" i="0" u="none" strike="noStrike" dirty="0" err="1">
                          <a:solidFill>
                            <a:srgbClr val="000000"/>
                          </a:solidFill>
                          <a:effectLst/>
                          <a:latin typeface="Aptos Narrow" panose="020B0004020202020204" pitchFamily="34" charset="0"/>
                        </a:rPr>
                        <a:t>1970s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Transition to NIST </a:t>
                      </a:r>
                      <a:r>
                        <a:rPr lang="en-US" sz="2400" b="1" i="0" u="none" strike="noStrike" dirty="0">
                          <a:solidFill>
                            <a:srgbClr val="000000"/>
                          </a:solidFill>
                          <a:effectLst/>
                          <a:latin typeface="Aptos Narrow" panose="020B0004020202020204" pitchFamily="34" charset="0"/>
                        </a:rPr>
                        <a:t>DES</a:t>
                      </a:r>
                      <a:r>
                        <a:rPr lang="en-US" sz="2400" b="0" i="0" u="none" strike="noStrike" dirty="0">
                          <a:solidFill>
                            <a:srgbClr val="000000"/>
                          </a:solidFill>
                          <a:effectLst/>
                          <a:latin typeface="Aptos Narrow" panose="020B0004020202020204" pitchFamily="34" charset="0"/>
                        </a:rPr>
                        <a:t> from proprietary algorithms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60534142"/>
                  </a:ext>
                </a:extLst>
              </a:tr>
              <a:tr h="401299">
                <a:tc>
                  <a:txBody>
                    <a:bodyPr/>
                    <a:lstStyle/>
                    <a:p>
                      <a:pPr algn="ctr" fontAlgn="ctr"/>
                      <a:r>
                        <a:rPr lang="en-US" sz="2400" b="1" i="0" u="none" strike="noStrike" dirty="0">
                          <a:solidFill>
                            <a:srgbClr val="000000"/>
                          </a:solidFill>
                          <a:effectLst/>
                          <a:latin typeface="Aptos Narrow" panose="020B0004020202020204" pitchFamily="34" charset="0"/>
                        </a:rPr>
                        <a:t>Early </a:t>
                      </a:r>
                      <a:r>
                        <a:rPr lang="en-US" sz="2400" b="1" i="0" u="none" strike="noStrike" dirty="0" err="1">
                          <a:solidFill>
                            <a:srgbClr val="000000"/>
                          </a:solidFill>
                          <a:effectLst/>
                          <a:latin typeface="Aptos Narrow" panose="020B0004020202020204" pitchFamily="34" charset="0"/>
                        </a:rPr>
                        <a:t>1990s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RSA</a:t>
                      </a:r>
                      <a:r>
                        <a:rPr lang="en-US" sz="2400" b="0" i="0" u="none" strike="noStrike" dirty="0">
                          <a:solidFill>
                            <a:srgbClr val="000000"/>
                          </a:solidFill>
                          <a:effectLst/>
                          <a:latin typeface="Aptos Narrow" panose="020B0004020202020204" pitchFamily="34" charset="0"/>
                        </a:rPr>
                        <a:t> with 1024-bit keys, MD5, SHA1 widely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6422327"/>
                  </a:ext>
                </a:extLst>
              </a:tr>
              <a:tr h="401299">
                <a:tc>
                  <a:txBody>
                    <a:bodyPr/>
                    <a:lstStyle/>
                    <a:p>
                      <a:pPr algn="ctr" fontAlgn="ctr"/>
                      <a:r>
                        <a:rPr lang="en-US" sz="2400" b="1" i="0" u="none" strike="noStrike" dirty="0">
                          <a:solidFill>
                            <a:srgbClr val="000000"/>
                          </a:solidFill>
                          <a:effectLst/>
                          <a:latin typeface="Aptos Narrow" panose="020B0004020202020204" pitchFamily="34" charset="0"/>
                        </a:rPr>
                        <a:t>Mid-</a:t>
                      </a:r>
                      <a:r>
                        <a:rPr lang="en-US" sz="2400" b="1" i="0" u="none" strike="noStrike" dirty="0" err="1">
                          <a:solidFill>
                            <a:srgbClr val="000000"/>
                          </a:solidFill>
                          <a:effectLst/>
                          <a:latin typeface="Aptos Narrow" panose="020B0004020202020204" pitchFamily="34" charset="0"/>
                        </a:rPr>
                        <a:t>1990s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Transition from DES to </a:t>
                      </a:r>
                      <a:r>
                        <a:rPr lang="en-US" sz="2400" b="1" i="0" u="none" strike="noStrike" dirty="0">
                          <a:solidFill>
                            <a:srgbClr val="000000"/>
                          </a:solidFill>
                          <a:effectLst/>
                          <a:latin typeface="Aptos Narrow" panose="020B0004020202020204" pitchFamily="34" charset="0"/>
                        </a:rPr>
                        <a:t>3DES</a:t>
                      </a:r>
                      <a:r>
                        <a:rPr lang="en-US" sz="2400" b="0" i="0" u="none" strike="noStrike" dirty="0">
                          <a:solidFill>
                            <a:srgbClr val="000000"/>
                          </a:solidFill>
                          <a:effectLst/>
                          <a:latin typeface="Aptos Narrow" panose="020B0004020202020204" pitchFamily="34" charset="0"/>
                        </a:rPr>
                        <a:t> as AES was being developed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1413677"/>
                  </a:ext>
                </a:extLst>
              </a:tr>
              <a:tr h="401299">
                <a:tc>
                  <a:txBody>
                    <a:bodyPr/>
                    <a:lstStyle/>
                    <a:p>
                      <a:pPr algn="ctr" fontAlgn="ctr"/>
                      <a:r>
                        <a:rPr lang="en-US" sz="2400" b="1" i="0" u="none" strike="noStrike" dirty="0">
                          <a:solidFill>
                            <a:srgbClr val="000000"/>
                          </a:solidFill>
                          <a:effectLst/>
                          <a:latin typeface="Aptos Narrow" panose="020B0004020202020204" pitchFamily="34" charset="0"/>
                        </a:rPr>
                        <a:t>Early </a:t>
                      </a:r>
                      <a:r>
                        <a:rPr lang="en-US" sz="2400" b="1" i="0" u="none" strike="noStrike" dirty="0" err="1">
                          <a:solidFill>
                            <a:srgbClr val="000000"/>
                          </a:solidFill>
                          <a:effectLst/>
                          <a:latin typeface="Aptos Narrow" panose="020B0004020202020204" pitchFamily="34" charset="0"/>
                        </a:rPr>
                        <a:t>2000s</a:t>
                      </a:r>
                      <a:endParaRPr lang="en-US" sz="24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MD5 found weak; industry moved to </a:t>
                      </a:r>
                      <a:r>
                        <a:rPr lang="en-US" sz="2400" b="1" i="0" u="none" strike="noStrike" dirty="0">
                          <a:solidFill>
                            <a:srgbClr val="000000"/>
                          </a:solidFill>
                          <a:effectLst/>
                          <a:latin typeface="Aptos Narrow" panose="020B0004020202020204" pitchFamily="34" charset="0"/>
                        </a:rPr>
                        <a:t>SHA1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546579"/>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AES</a:t>
                      </a:r>
                      <a:r>
                        <a:rPr lang="en-US" sz="2400" b="0" i="0" u="none" strike="noStrike" dirty="0">
                          <a:solidFill>
                            <a:srgbClr val="000000"/>
                          </a:solidFill>
                          <a:effectLst/>
                          <a:latin typeface="Aptos Narrow" panose="020B0004020202020204" pitchFamily="34" charset="0"/>
                        </a:rPr>
                        <a:t> published, but 3DES still widely used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0236326"/>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NIST published </a:t>
                      </a:r>
                      <a:r>
                        <a:rPr lang="en-US" sz="2400" b="1" i="0" u="none" strike="noStrike" dirty="0">
                          <a:solidFill>
                            <a:srgbClr val="000000"/>
                          </a:solidFill>
                          <a:effectLst/>
                          <a:latin typeface="Aptos Narrow" panose="020B0004020202020204" pitchFamily="34" charset="0"/>
                        </a:rPr>
                        <a:t>SHA2</a:t>
                      </a:r>
                      <a:r>
                        <a:rPr lang="en-US" sz="2400" b="0" i="0" u="none" strike="noStrike" dirty="0">
                          <a:solidFill>
                            <a:srgbClr val="000000"/>
                          </a:solidFill>
                          <a:effectLst/>
                          <a:latin typeface="Aptos Narrow" panose="020B0004020202020204" pitchFamily="34" charset="0"/>
                        </a:rPr>
                        <a:t> suite due to SHA1 concerns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878161"/>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RSA 1024 → 2048-bit </a:t>
                      </a:r>
                      <a:r>
                        <a:rPr lang="en-US" sz="2400" b="0" i="0" u="none" strike="noStrike" dirty="0">
                          <a:solidFill>
                            <a:srgbClr val="000000"/>
                          </a:solidFill>
                          <a:effectLst/>
                          <a:latin typeface="Aptos Narrow" panose="020B0004020202020204" pitchFamily="34" charset="0"/>
                        </a:rPr>
                        <a:t>transition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0626603"/>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Google announced SHA1 collision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9987102"/>
                  </a:ext>
                </a:extLst>
              </a:tr>
              <a:tr h="401299">
                <a:tc>
                  <a:txBody>
                    <a:bodyPr/>
                    <a:lstStyle/>
                    <a:p>
                      <a:pPr algn="ctr" fontAlgn="ctr"/>
                      <a:r>
                        <a:rPr lang="en-EG" sz="2400" b="1" i="0" u="none" strike="noStrike" dirty="0">
                          <a:solidFill>
                            <a:srgbClr val="000000"/>
                          </a:solidFill>
                          <a:effectLst/>
                          <a:latin typeface="Aptos Narrow" panose="020B0004020202020204" pitchFamily="34" charset="0"/>
                        </a:rPr>
                        <a:t>2020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1" i="0" u="none" strike="noStrike" dirty="0">
                          <a:solidFill>
                            <a:srgbClr val="000000"/>
                          </a:solidFill>
                          <a:effectLst/>
                          <a:latin typeface="Aptos Narrow" panose="020B0004020202020204" pitchFamily="34" charset="0"/>
                        </a:rPr>
                        <a:t>RSA-250 (829-bit) </a:t>
                      </a:r>
                      <a:r>
                        <a:rPr lang="en-US" sz="2400" b="0" i="0" u="none" strike="noStrike" dirty="0">
                          <a:solidFill>
                            <a:srgbClr val="000000"/>
                          </a:solidFill>
                          <a:effectLst/>
                          <a:latin typeface="Aptos Narrow" panose="020B0004020202020204" pitchFamily="34" charset="0"/>
                        </a:rPr>
                        <a:t>was </a:t>
                      </a:r>
                      <a:r>
                        <a:rPr lang="en-US" sz="2400" b="1" i="0" u="none" strike="noStrike" dirty="0">
                          <a:solidFill>
                            <a:srgbClr val="000000"/>
                          </a:solidFill>
                          <a:effectLst/>
                          <a:latin typeface="Aptos Narrow" panose="020B0004020202020204" pitchFamily="34" charset="0"/>
                        </a:rPr>
                        <a:t>factored</a:t>
                      </a:r>
                      <a:r>
                        <a:rPr lang="en-US" sz="2400" b="0" i="0" u="none" strike="noStrike" dirty="0">
                          <a:solidFill>
                            <a:srgbClr val="000000"/>
                          </a:solidFill>
                          <a:effectLst/>
                          <a:latin typeface="Aptos Narrow" panose="020B0004020202020204" pitchFamily="34" charset="0"/>
                        </a:rPr>
                        <a:t>; urged shift to 2048-bit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5156944"/>
                  </a:ext>
                </a:extLst>
              </a:tr>
              <a:tr h="802598">
                <a:tc>
                  <a:txBody>
                    <a:bodyPr/>
                    <a:lstStyle/>
                    <a:p>
                      <a:pPr algn="ctr" fontAlgn="ctr"/>
                      <a:r>
                        <a:rPr lang="en-EG" sz="2400" b="1" i="0" u="none" strike="noStrike" dirty="0">
                          <a:solidFill>
                            <a:srgbClr val="000000"/>
                          </a:solidFill>
                          <a:effectLst/>
                          <a:latin typeface="Aptos Narrow" panose="020B0004020202020204" pitchFamily="34" charset="0"/>
                        </a:rPr>
                        <a:t>2022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NIST </a:t>
                      </a:r>
                      <a:r>
                        <a:rPr lang="en-US" sz="2400" b="1" i="0" u="none" strike="noStrike" dirty="0">
                          <a:solidFill>
                            <a:srgbClr val="000000"/>
                          </a:solidFill>
                          <a:effectLst/>
                          <a:latin typeface="Aptos Narrow" panose="020B0004020202020204" pitchFamily="34" charset="0"/>
                        </a:rPr>
                        <a:t>Round 3 post-quantum </a:t>
                      </a:r>
                      <a:r>
                        <a:rPr lang="en-US" sz="2400" b="0" i="0" u="none" strike="noStrike" dirty="0">
                          <a:solidFill>
                            <a:srgbClr val="000000"/>
                          </a:solidFill>
                          <a:effectLst/>
                          <a:latin typeface="Aptos Narrow" panose="020B0004020202020204" pitchFamily="34" charset="0"/>
                        </a:rPr>
                        <a:t>algorithm selections announced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0896315"/>
                  </a:ext>
                </a:extLst>
              </a:tr>
              <a:tr h="802598">
                <a:tc>
                  <a:txBody>
                    <a:bodyPr/>
                    <a:lstStyle/>
                    <a:p>
                      <a:pPr algn="ctr" fontAlgn="ctr"/>
                      <a:r>
                        <a:rPr lang="en-EG" sz="2400" b="1" i="0" u="none" strike="noStrike" dirty="0">
                          <a:solidFill>
                            <a:srgbClr val="000000"/>
                          </a:solidFill>
                          <a:effectLst/>
                          <a:latin typeface="Aptos Narrow" panose="020B0004020202020204" pitchFamily="34" charset="0"/>
                        </a:rPr>
                        <a:t>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NIST published first tranche of quantum-resistant standards and algorithms </a:t>
                      </a:r>
                    </a:p>
                    <a:p>
                      <a:pPr lvl="1" algn="l" fontAlgn="ctr"/>
                      <a:r>
                        <a:rPr lang="en-US" sz="2400" b="0" i="0" u="none" strike="noStrike" dirty="0">
                          <a:solidFill>
                            <a:srgbClr val="000000"/>
                          </a:solidFill>
                          <a:effectLst/>
                          <a:latin typeface="Aptos Narrow" panose="020B0004020202020204" pitchFamily="34" charset="0"/>
                        </a:rPr>
                        <a:t>(</a:t>
                      </a:r>
                      <a:r>
                        <a:rPr lang="en-US" sz="2400" b="1" i="0" u="none" strike="noStrike" dirty="0">
                          <a:solidFill>
                            <a:srgbClr val="000000"/>
                          </a:solidFill>
                          <a:effectLst/>
                          <a:latin typeface="Aptos Narrow" panose="020B0004020202020204" pitchFamily="34" charset="0"/>
                        </a:rPr>
                        <a:t>FIPS-203, FIPS-204, FIPS 205</a:t>
                      </a:r>
                      <a:r>
                        <a:rPr lang="en-US" sz="2400" b="0" i="0" u="none" strike="noStrike" dirty="0">
                          <a:solidFill>
                            <a:srgbClr val="000000"/>
                          </a:solidFill>
                          <a:effectLst/>
                          <a:latin typeface="Aptos Narrow" panose="020B0004020202020204" pitchFamily="34" charset="0"/>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62915802"/>
                  </a:ext>
                </a:extLst>
              </a:tr>
              <a:tr h="802598">
                <a:tc>
                  <a:txBody>
                    <a:bodyPr/>
                    <a:lstStyle/>
                    <a:p>
                      <a:pPr algn="ctr" fontAlgn="ctr"/>
                      <a:r>
                        <a:rPr lang="en-US" sz="2400" b="1" i="0" u="none" strike="noStrike" dirty="0">
                          <a:solidFill>
                            <a:srgbClr val="000000"/>
                          </a:solidFill>
                          <a:effectLst/>
                          <a:latin typeface="Aptos Narrow" panose="020B0004020202020204" pitchFamily="34" charset="0"/>
                        </a:rPr>
                        <a:t>Q-Day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1" algn="l" fontAlgn="ctr"/>
                      <a:r>
                        <a:rPr lang="en-US" sz="2400" b="0" i="0" u="none" strike="noStrike" dirty="0">
                          <a:solidFill>
                            <a:srgbClr val="000000"/>
                          </a:solidFill>
                          <a:effectLst/>
                          <a:latin typeface="Aptos Narrow" panose="020B0004020202020204" pitchFamily="34" charset="0"/>
                        </a:rPr>
                        <a:t>Shor’s Algorithm (1994) expected to break RSA, DH, ECC</a:t>
                      </a:r>
                    </a:p>
                    <a:p>
                      <a:pPr lvl="1" algn="l" fontAlgn="ctr"/>
                      <a:r>
                        <a:rPr lang="en-US" sz="2400" b="0" i="0" u="none" strike="noStrike" dirty="0">
                          <a:solidFill>
                            <a:srgbClr val="000000"/>
                          </a:solidFill>
                          <a:effectLst/>
                          <a:latin typeface="Aptos Narrow" panose="020B0004020202020204" pitchFamily="34" charset="0"/>
                        </a:rPr>
                        <a:t>AES as well (October 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830746"/>
                  </a:ext>
                </a:extLst>
              </a:tr>
            </a:tbl>
          </a:graphicData>
        </a:graphic>
      </p:graphicFrame>
    </p:spTree>
    <p:extLst>
      <p:ext uri="{BB962C8B-B14F-4D97-AF65-F5344CB8AC3E}">
        <p14:creationId xmlns:p14="http://schemas.microsoft.com/office/powerpoint/2010/main" val="3017511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4A2C7-919A-944A-9099-B209B01E910B}"/>
              </a:ext>
            </a:extLst>
          </p:cNvPr>
          <p:cNvSpPr>
            <a:spLocks noGrp="1"/>
          </p:cNvSpPr>
          <p:nvPr>
            <p:ph type="title"/>
          </p:nvPr>
        </p:nvSpPr>
        <p:spPr>
          <a:xfrm>
            <a:off x="381000" y="152401"/>
            <a:ext cx="14020800" cy="533400"/>
          </a:xfrm>
        </p:spPr>
        <p:txBody>
          <a:bodyPr>
            <a:noAutofit/>
          </a:bodyPr>
          <a:lstStyle/>
          <a:p>
            <a:r>
              <a:rPr lang="en-US" sz="3200" b="1" dirty="0"/>
              <a:t>Quantum-Resistant Standards for New Cryptographic Algorithms</a:t>
            </a:r>
            <a:endParaRPr lang="en-US" sz="4000" u="sng" dirty="0"/>
          </a:p>
        </p:txBody>
      </p:sp>
      <p:sp>
        <p:nvSpPr>
          <p:cNvPr id="3" name="TextBox 2">
            <a:extLst>
              <a:ext uri="{FF2B5EF4-FFF2-40B4-BE49-F238E27FC236}">
                <a16:creationId xmlns:a16="http://schemas.microsoft.com/office/drawing/2014/main" id="{35CD6072-C7D9-664C-910F-2B9485D57837}"/>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000" dirty="0" err="1">
              <a:solidFill>
                <a:srgbClr val="FFFFFF"/>
              </a:solidFill>
              <a:latin typeface="Calibri" panose="020F0502020204030204" pitchFamily="34" charset="0"/>
              <a:ea typeface="IBM Plex Sans" charset="0"/>
              <a:cs typeface="Calibri" panose="020F0502020204030204" pitchFamily="34" charset="0"/>
            </a:endParaRPr>
          </a:p>
        </p:txBody>
      </p:sp>
      <p:graphicFrame>
        <p:nvGraphicFramePr>
          <p:cNvPr id="21" name="Table 20">
            <a:extLst>
              <a:ext uri="{FF2B5EF4-FFF2-40B4-BE49-F238E27FC236}">
                <a16:creationId xmlns:a16="http://schemas.microsoft.com/office/drawing/2014/main" id="{5FD01127-B51D-ED28-539E-6428807E6BE1}"/>
              </a:ext>
            </a:extLst>
          </p:cNvPr>
          <p:cNvGraphicFramePr>
            <a:graphicFrameLocks noGrp="1"/>
          </p:cNvGraphicFramePr>
          <p:nvPr/>
        </p:nvGraphicFramePr>
        <p:xfrm>
          <a:off x="457200" y="664316"/>
          <a:ext cx="13487400" cy="7412884"/>
        </p:xfrm>
        <a:graphic>
          <a:graphicData uri="http://schemas.openxmlformats.org/drawingml/2006/table">
            <a:tbl>
              <a:tblPr>
                <a:tableStyleId>{5C22544A-7EE6-4342-B048-85BDC9FD1C3A}</a:tableStyleId>
              </a:tblPr>
              <a:tblGrid>
                <a:gridCol w="1447800">
                  <a:extLst>
                    <a:ext uri="{9D8B030D-6E8A-4147-A177-3AD203B41FA5}">
                      <a16:colId xmlns:a16="http://schemas.microsoft.com/office/drawing/2014/main" val="1549872932"/>
                    </a:ext>
                  </a:extLst>
                </a:gridCol>
                <a:gridCol w="2971800">
                  <a:extLst>
                    <a:ext uri="{9D8B030D-6E8A-4147-A177-3AD203B41FA5}">
                      <a16:colId xmlns:a16="http://schemas.microsoft.com/office/drawing/2014/main" val="3971865718"/>
                    </a:ext>
                  </a:extLst>
                </a:gridCol>
                <a:gridCol w="3733800">
                  <a:extLst>
                    <a:ext uri="{9D8B030D-6E8A-4147-A177-3AD203B41FA5}">
                      <a16:colId xmlns:a16="http://schemas.microsoft.com/office/drawing/2014/main" val="899511941"/>
                    </a:ext>
                  </a:extLst>
                </a:gridCol>
                <a:gridCol w="5334000">
                  <a:extLst>
                    <a:ext uri="{9D8B030D-6E8A-4147-A177-3AD203B41FA5}">
                      <a16:colId xmlns:a16="http://schemas.microsoft.com/office/drawing/2014/main" val="4137139247"/>
                    </a:ext>
                  </a:extLst>
                </a:gridCol>
              </a:tblGrid>
              <a:tr h="346022">
                <a:tc>
                  <a:txBody>
                    <a:bodyPr/>
                    <a:lstStyle/>
                    <a:p>
                      <a:pPr algn="ctr" fontAlgn="ctr"/>
                      <a:r>
                        <a:rPr lang="en-US" sz="1600" b="1" u="none" strike="noStrike">
                          <a:effectLst/>
                          <a:latin typeface="Calibri" panose="020F0502020204030204" pitchFamily="34" charset="0"/>
                          <a:cs typeface="Calibri" panose="020F0502020204030204" pitchFamily="34" charset="0"/>
                        </a:rPr>
                        <a:t>Region / Body</a:t>
                      </a:r>
                      <a:endParaRPr lang="en-US" sz="1600" b="1"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ctr" fontAlgn="ctr"/>
                      <a:r>
                        <a:rPr lang="en-US" sz="1800" b="1" u="none" strike="noStrike">
                          <a:effectLst/>
                          <a:latin typeface="Calibri" panose="020F0502020204030204" pitchFamily="34" charset="0"/>
                          <a:cs typeface="Calibri" panose="020F0502020204030204" pitchFamily="34" charset="0"/>
                        </a:rPr>
                        <a:t>Organization</a:t>
                      </a:r>
                      <a:endParaRPr lang="en-US" sz="1800" b="1"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ctr" fontAlgn="ctr"/>
                      <a:r>
                        <a:rPr lang="en-US" sz="1800" b="1" u="none" strike="noStrike" dirty="0">
                          <a:effectLst/>
                          <a:latin typeface="Calibri" panose="020F0502020204030204" pitchFamily="34" charset="0"/>
                          <a:cs typeface="Calibri" panose="020F0502020204030204" pitchFamily="34" charset="0"/>
                        </a:rPr>
                        <a:t>Key Initiatives &amp; Standards</a:t>
                      </a:r>
                      <a:endParaRPr lang="en-US" sz="18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800" b="1" u="none" strike="noStrike" dirty="0">
                          <a:effectLst/>
                          <a:latin typeface="Calibri" panose="020F0502020204030204" pitchFamily="34" charset="0"/>
                          <a:cs typeface="Calibri" panose="020F0502020204030204" pitchFamily="34" charset="0"/>
                        </a:rPr>
                        <a:t>Notable Algorithms Specifications</a:t>
                      </a:r>
                      <a:endParaRPr lang="en-US" sz="18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3722695625"/>
                  </a:ext>
                </a:extLst>
              </a:tr>
              <a:tr h="1008242">
                <a:tc>
                  <a:txBody>
                    <a:bodyPr/>
                    <a:lstStyle/>
                    <a:p>
                      <a:pPr algn="ctr" fontAlgn="ctr"/>
                      <a:r>
                        <a:rPr lang="en-US" sz="1600" b="1" u="none" strike="noStrike" dirty="0">
                          <a:effectLst/>
                          <a:latin typeface="Calibri" panose="020F0502020204030204" pitchFamily="34" charset="0"/>
                          <a:cs typeface="Calibri" panose="020F0502020204030204" pitchFamily="34" charset="0"/>
                        </a:rPr>
                        <a:t>United States</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NIST</a:t>
                      </a:r>
                      <a:r>
                        <a:rPr lang="en-US" sz="1600" u="none" strike="noStrike" dirty="0">
                          <a:effectLst/>
                          <a:latin typeface="Calibri" panose="020F0502020204030204" pitchFamily="34" charset="0"/>
                          <a:cs typeface="Calibri" panose="020F0502020204030204" pitchFamily="34" charset="0"/>
                        </a:rPr>
                        <a:t> (National Institute of Standards and Technology)</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PQC</a:t>
                      </a:r>
                      <a:r>
                        <a:rPr lang="en-US" sz="1600" u="none" strike="noStrike" dirty="0">
                          <a:effectLst/>
                          <a:latin typeface="Calibri" panose="020F0502020204030204" pitchFamily="34" charset="0"/>
                          <a:cs typeface="Calibri" panose="020F0502020204030204" pitchFamily="34" charset="0"/>
                        </a:rPr>
                        <a:t> Standards </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FIPS 203</a:t>
                      </a:r>
                      <a:r>
                        <a:rPr lang="en-US" sz="1600" u="none" strike="noStrike" dirty="0">
                          <a:effectLst/>
                          <a:latin typeface="Calibri" panose="020F0502020204030204" pitchFamily="34" charset="0"/>
                          <a:cs typeface="Calibri" panose="020F0502020204030204" pitchFamily="34" charset="0"/>
                        </a:rPr>
                        <a:t>: ML-KEM (Kyber)</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FIPS 204</a:t>
                      </a:r>
                      <a:r>
                        <a:rPr lang="en-US" sz="1600" u="none" strike="noStrike" dirty="0">
                          <a:effectLst/>
                          <a:latin typeface="Calibri" panose="020F0502020204030204" pitchFamily="34" charset="0"/>
                          <a:cs typeface="Calibri" panose="020F0502020204030204" pitchFamily="34" charset="0"/>
                        </a:rPr>
                        <a:t>: ML-DSA (</a:t>
                      </a:r>
                      <a:r>
                        <a:rPr lang="en-US" sz="1600" u="none" strike="noStrike" dirty="0" err="1">
                          <a:effectLst/>
                          <a:latin typeface="Calibri" panose="020F0502020204030204" pitchFamily="34" charset="0"/>
                          <a:cs typeface="Calibri" panose="020F0502020204030204" pitchFamily="34" charset="0"/>
                        </a:rPr>
                        <a:t>Dilithium</a:t>
                      </a:r>
                      <a:r>
                        <a:rPr lang="en-US" sz="1600" u="none" strike="noStrike" dirty="0">
                          <a:effectLst/>
                          <a:latin typeface="Calibri" panose="020F0502020204030204" pitchFamily="34" charset="0"/>
                          <a:cs typeface="Calibri" panose="020F0502020204030204" pitchFamily="34" charset="0"/>
                        </a:rPr>
                        <a:t>)</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FIPS 205</a:t>
                      </a:r>
                      <a:r>
                        <a:rPr lang="en-US" sz="1600" u="none" strike="noStrike" dirty="0">
                          <a:effectLst/>
                          <a:latin typeface="Calibri" panose="020F0502020204030204" pitchFamily="34" charset="0"/>
                          <a:cs typeface="Calibri" panose="020F0502020204030204" pitchFamily="34" charset="0"/>
                        </a:rPr>
                        <a:t>: SLH-DSA (SPHINCS+)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a:t>
                      </a:r>
                      <a:r>
                        <a:rPr lang="en-US" sz="1600" b="1" u="none" strike="noStrike" dirty="0">
                          <a:effectLst/>
                          <a:latin typeface="Calibri" panose="020F0502020204030204" pitchFamily="34" charset="0"/>
                          <a:cs typeface="Calibri" panose="020F0502020204030204" pitchFamily="34" charset="0"/>
                        </a:rPr>
                        <a:t>ML-KEM (Kyber)</a:t>
                      </a:r>
                      <a:r>
                        <a:rPr lang="en-US" sz="1600" u="none" strike="noStrike" dirty="0">
                          <a:effectLst/>
                          <a:latin typeface="Calibri" panose="020F0502020204030204" pitchFamily="34" charset="0"/>
                          <a:cs typeface="Calibri" panose="020F0502020204030204" pitchFamily="34" charset="0"/>
                        </a:rPr>
                        <a:t>: Key encapsulation</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ML-DSA (</a:t>
                      </a:r>
                      <a:r>
                        <a:rPr lang="en-US" sz="1600" b="1" u="none" strike="noStrike" dirty="0" err="1">
                          <a:effectLst/>
                          <a:latin typeface="Calibri" panose="020F0502020204030204" pitchFamily="34" charset="0"/>
                          <a:cs typeface="Calibri" panose="020F0502020204030204" pitchFamily="34" charset="0"/>
                        </a:rPr>
                        <a:t>Dilithium</a:t>
                      </a:r>
                      <a:r>
                        <a:rPr lang="en-US" sz="1600" b="1" u="none" strike="noStrike" dirty="0">
                          <a:effectLst/>
                          <a:latin typeface="Calibri" panose="020F0502020204030204" pitchFamily="34" charset="0"/>
                          <a:cs typeface="Calibri" panose="020F0502020204030204" pitchFamily="34" charset="0"/>
                        </a:rPr>
                        <a:t>)</a:t>
                      </a:r>
                      <a:r>
                        <a:rPr lang="en-US" sz="1600" u="none" strike="noStrike" dirty="0">
                          <a:effectLst/>
                          <a:latin typeface="Calibri" panose="020F0502020204030204" pitchFamily="34" charset="0"/>
                          <a:cs typeface="Calibri" panose="020F0502020204030204" pitchFamily="34" charset="0"/>
                        </a:rPr>
                        <a:t>: Digital signatures</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SLH-DSA (SPHINCS+)</a:t>
                      </a:r>
                      <a:r>
                        <a:rPr lang="en-US" sz="1600" u="none" strike="noStrike" dirty="0">
                          <a:effectLst/>
                          <a:latin typeface="Calibri" panose="020F0502020204030204" pitchFamily="34" charset="0"/>
                          <a:cs typeface="Calibri" panose="020F0502020204030204" pitchFamily="34" charset="0"/>
                        </a:rPr>
                        <a:t>: Stateless hash-based signatures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3376957520"/>
                  </a:ext>
                </a:extLst>
              </a:tr>
              <a:tr h="838200">
                <a:tc rowSpan="2">
                  <a:txBody>
                    <a:bodyPr/>
                    <a:lstStyle/>
                    <a:p>
                      <a:pPr algn="ctr" fontAlgn="ctr"/>
                      <a:r>
                        <a:rPr lang="en-US" sz="1600" b="1" u="none" strike="noStrike">
                          <a:effectLst/>
                          <a:latin typeface="Calibri" panose="020F0502020204030204" pitchFamily="34" charset="0"/>
                          <a:cs typeface="Calibri" panose="020F0502020204030204" pitchFamily="34" charset="0"/>
                        </a:rPr>
                        <a:t>European Union</a:t>
                      </a:r>
                      <a:endParaRPr lang="en-US" sz="1600" b="1"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ETSI</a:t>
                      </a:r>
                      <a:r>
                        <a:rPr lang="en-US" sz="1600" u="none" strike="noStrike" dirty="0">
                          <a:effectLst/>
                          <a:latin typeface="Calibri" panose="020F0502020204030204" pitchFamily="34" charset="0"/>
                          <a:cs typeface="Calibri" panose="020F0502020204030204" pitchFamily="34" charset="0"/>
                        </a:rPr>
                        <a:t> (European Telecommunications Standards Institute)</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Quantum-Safe Cryptography (</a:t>
                      </a:r>
                      <a:r>
                        <a:rPr lang="en-US" sz="1600" b="1" u="none" strike="noStrike" dirty="0">
                          <a:effectLst/>
                          <a:latin typeface="Calibri" panose="020F0502020204030204" pitchFamily="34" charset="0"/>
                          <a:cs typeface="Calibri" panose="020F0502020204030204" pitchFamily="34" charset="0"/>
                        </a:rPr>
                        <a:t>QSC</a:t>
                      </a:r>
                      <a:r>
                        <a:rPr lang="en-US" sz="1600" u="none" strike="noStrike" dirty="0">
                          <a:effectLst/>
                          <a:latin typeface="Calibri" panose="020F0502020204030204" pitchFamily="34" charset="0"/>
                          <a:cs typeface="Calibri" panose="020F0502020204030204" pitchFamily="34" charset="0"/>
                        </a:rPr>
                        <a:t>) </a:t>
                      </a:r>
                      <a:br>
                        <a:rPr lang="en-US" sz="1600" u="none" strike="noStrike" dirty="0">
                          <a:effectLst/>
                          <a:latin typeface="Calibri" panose="020F0502020204030204" pitchFamily="34" charset="0"/>
                          <a:cs typeface="Calibri" panose="020F0502020204030204" pitchFamily="34" charset="0"/>
                        </a:rPr>
                      </a:br>
                      <a:r>
                        <a:rPr lang="en-US" sz="1600" u="none" strike="noStrike" dirty="0">
                          <a:effectLst/>
                          <a:latin typeface="Calibri" panose="020F0502020204030204" pitchFamily="34" charset="0"/>
                          <a:cs typeface="Calibri" panose="020F0502020204030204" pitchFamily="34" charset="0"/>
                        </a:rPr>
                        <a:t>- </a:t>
                      </a:r>
                      <a:r>
                        <a:rPr lang="en-US" sz="1600" b="1" u="none" strike="noStrike" dirty="0">
                          <a:effectLst/>
                          <a:latin typeface="Calibri" panose="020F0502020204030204" pitchFamily="34" charset="0"/>
                          <a:cs typeface="Calibri" panose="020F0502020204030204" pitchFamily="34" charset="0"/>
                        </a:rPr>
                        <a:t>ETSI TS 104 015</a:t>
                      </a:r>
                      <a:r>
                        <a:rPr lang="en-US" sz="1600" u="none" strike="noStrike" dirty="0">
                          <a:effectLst/>
                          <a:latin typeface="Calibri" panose="020F0502020204030204" pitchFamily="34" charset="0"/>
                          <a:cs typeface="Calibri" panose="020F0502020204030204" pitchFamily="34" charset="0"/>
                        </a:rPr>
                        <a:t>: Efficient Quantum-Safe Hybrid Key Exchanges with Hidden Access Policies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err="1">
                          <a:effectLst/>
                          <a:latin typeface="Calibri" panose="020F0502020204030204" pitchFamily="34" charset="0"/>
                          <a:cs typeface="Calibri" panose="020F0502020204030204" pitchFamily="34" charset="0"/>
                        </a:rPr>
                        <a:t>Covercrypt</a:t>
                      </a:r>
                      <a:r>
                        <a:rPr lang="en-US" sz="1600" u="none" strike="noStrike" dirty="0">
                          <a:effectLst/>
                          <a:latin typeface="Calibri" panose="020F0502020204030204" pitchFamily="34" charset="0"/>
                          <a:cs typeface="Calibri" panose="020F0502020204030204" pitchFamily="34" charset="0"/>
                        </a:rPr>
                        <a:t>: Hybrid key encapsulation mechanism with access control</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2355632758"/>
                  </a:ext>
                </a:extLst>
              </a:tr>
              <a:tr h="806146">
                <a:tc vMerge="1">
                  <a:txBody>
                    <a:bodyPr/>
                    <a:lstStyle/>
                    <a:p>
                      <a:endParaRPr lang="en-EG"/>
                    </a:p>
                  </a:txBody>
                  <a:tcPr/>
                </a:tc>
                <a:tc>
                  <a:txBody>
                    <a:bodyPr/>
                    <a:lstStyle/>
                    <a:p>
                      <a:pPr algn="l" fontAlgn="ctr"/>
                      <a:r>
                        <a:rPr lang="en-US" sz="1600" b="1" u="none" strike="noStrike" dirty="0">
                          <a:effectLst/>
                          <a:latin typeface="Calibri" panose="020F0502020204030204" pitchFamily="34" charset="0"/>
                          <a:cs typeface="Calibri" panose="020F0502020204030204" pitchFamily="34" charset="0"/>
                        </a:rPr>
                        <a:t>ENISA</a:t>
                      </a:r>
                      <a:r>
                        <a:rPr lang="en-US" sz="1600" u="none" strike="noStrike" dirty="0">
                          <a:effectLst/>
                          <a:latin typeface="Calibri" panose="020F0502020204030204" pitchFamily="34" charset="0"/>
                          <a:cs typeface="Calibri" panose="020F0502020204030204" pitchFamily="34" charset="0"/>
                        </a:rPr>
                        <a:t> (European Union Agency for Cybersecurity)</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0" u="none" strike="noStrike" dirty="0">
                          <a:effectLst/>
                          <a:latin typeface="Calibri" panose="020F0502020204030204" pitchFamily="34" charset="0"/>
                          <a:cs typeface="Calibri" panose="020F0502020204030204" pitchFamily="34" charset="0"/>
                        </a:rPr>
                        <a:t>PQC</a:t>
                      </a:r>
                      <a:r>
                        <a:rPr lang="en-US" sz="1600" u="none" strike="noStrike" dirty="0">
                          <a:effectLst/>
                          <a:latin typeface="Calibri" panose="020F0502020204030204" pitchFamily="34" charset="0"/>
                          <a:cs typeface="Calibri" panose="020F0502020204030204" pitchFamily="34" charset="0"/>
                        </a:rPr>
                        <a:t> standardization and integration</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Frameworks for PQC adoption and migration strategies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1727606736"/>
                  </a:ext>
                </a:extLst>
              </a:tr>
              <a:tr h="724754">
                <a:tc rowSpan="2">
                  <a:txBody>
                    <a:bodyPr/>
                    <a:lstStyle/>
                    <a:p>
                      <a:pPr algn="ctr" fontAlgn="ctr"/>
                      <a:r>
                        <a:rPr lang="en-US" sz="1600" b="1" u="none" strike="noStrike" dirty="0">
                          <a:effectLst/>
                          <a:latin typeface="Calibri" panose="020F0502020204030204" pitchFamily="34" charset="0"/>
                          <a:cs typeface="Calibri" panose="020F0502020204030204" pitchFamily="34" charset="0"/>
                        </a:rPr>
                        <a:t>China</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National Cryptography Administration (</a:t>
                      </a:r>
                      <a:r>
                        <a:rPr lang="en-US" sz="1600" b="1" u="none" strike="noStrike" dirty="0">
                          <a:effectLst/>
                          <a:latin typeface="Calibri" panose="020F0502020204030204" pitchFamily="34" charset="0"/>
                          <a:cs typeface="Calibri" panose="020F0502020204030204" pitchFamily="34" charset="0"/>
                        </a:rPr>
                        <a:t>NCA</a:t>
                      </a:r>
                      <a:r>
                        <a:rPr lang="en-US" sz="1600" u="none" strike="noStrike" dirty="0">
                          <a:effectLst/>
                          <a:latin typeface="Calibri" panose="020F0502020204030204" pitchFamily="34" charset="0"/>
                          <a:cs typeface="Calibri" panose="020F0502020204030204" pitchFamily="34" charset="0"/>
                        </a:rPr>
                        <a:t>)</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a:effectLst/>
                          <a:latin typeface="Calibri" panose="020F0502020204030204" pitchFamily="34" charset="0"/>
                          <a:cs typeface="Calibri" panose="020F0502020204030204" pitchFamily="34" charset="0"/>
                        </a:rPr>
                        <a:t>National PQC standardization </a:t>
                      </a:r>
                      <a:br>
                        <a:rPr lang="en-US" sz="1600" u="none" strike="noStrike">
                          <a:effectLst/>
                          <a:latin typeface="Calibri" panose="020F0502020204030204" pitchFamily="34" charset="0"/>
                          <a:cs typeface="Calibri" panose="020F0502020204030204" pitchFamily="34" charset="0"/>
                        </a:rPr>
                      </a:br>
                      <a:r>
                        <a:rPr lang="en-US" sz="1600" u="none" strike="noStrike">
                          <a:effectLst/>
                          <a:latin typeface="Calibri" panose="020F0502020204030204" pitchFamily="34" charset="0"/>
                          <a:cs typeface="Calibri" panose="020F0502020204030204" pitchFamily="34" charset="0"/>
                        </a:rPr>
                        <a:t>- Development of  quantum-resistant algorithms</a:t>
                      </a:r>
                      <a:endParaRPr lang="en-US" sz="1600" b="0"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u="none" strike="noStrike" dirty="0">
                          <a:effectLst/>
                          <a:latin typeface="Calibri" panose="020F0502020204030204" pitchFamily="34" charset="0"/>
                          <a:cs typeface="Calibri" panose="020F0502020204030204" pitchFamily="34" charset="0"/>
                        </a:rPr>
                        <a:t>Proprietary</a:t>
                      </a:r>
                      <a:r>
                        <a:rPr lang="en-US" sz="1600" u="none" strike="noStrike" dirty="0">
                          <a:effectLst/>
                          <a:latin typeface="Calibri" panose="020F0502020204030204" pitchFamily="34" charset="0"/>
                          <a:cs typeface="Calibri" panose="020F0502020204030204" pitchFamily="34" charset="0"/>
                        </a:rPr>
                        <a:t> algorithms under evaluation </a:t>
                      </a:r>
                    </a:p>
                    <a:p>
                      <a:pPr algn="l" fontAlgn="ctr"/>
                      <a:r>
                        <a:rPr lang="en-US" sz="1600" b="1" u="none" strike="noStrike" dirty="0">
                          <a:effectLst/>
                          <a:latin typeface="Calibri" panose="020F0502020204030204" pitchFamily="34" charset="0"/>
                          <a:cs typeface="Calibri" panose="020F0502020204030204" pitchFamily="34" charset="0"/>
                        </a:rPr>
                        <a:t>(not publicly disclosed)</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870568737"/>
                  </a:ext>
                </a:extLst>
              </a:tr>
              <a:tr h="594494">
                <a:tc vMerge="1">
                  <a:txBody>
                    <a:bodyPr/>
                    <a:lstStyle/>
                    <a:p>
                      <a:endParaRPr lang="en-EG"/>
                    </a:p>
                  </a:txBody>
                  <a:tcPr/>
                </a:tc>
                <a:tc>
                  <a:txBody>
                    <a:bodyPr/>
                    <a:lstStyle/>
                    <a:p>
                      <a:pPr algn="l" fontAlgn="ctr"/>
                      <a:r>
                        <a:rPr lang="en-US" sz="1600" u="none" strike="noStrike" dirty="0">
                          <a:effectLst/>
                          <a:latin typeface="Calibri" panose="020F0502020204030204" pitchFamily="34" charset="0"/>
                          <a:cs typeface="Calibri" panose="020F0502020204030204" pitchFamily="34" charset="0"/>
                        </a:rPr>
                        <a:t>Institute of Commercial Cryptography Standards (</a:t>
                      </a:r>
                      <a:r>
                        <a:rPr lang="en-US" sz="1600" b="1" u="none" strike="noStrike" dirty="0">
                          <a:effectLst/>
                          <a:latin typeface="Calibri" panose="020F0502020204030204" pitchFamily="34" charset="0"/>
                          <a:cs typeface="Calibri" panose="020F0502020204030204" pitchFamily="34" charset="0"/>
                        </a:rPr>
                        <a:t>ICCS</a:t>
                      </a:r>
                      <a:r>
                        <a:rPr lang="en-US" sz="1600" u="none" strike="noStrike" dirty="0">
                          <a:effectLst/>
                          <a:latin typeface="Calibri" panose="020F0502020204030204" pitchFamily="34" charset="0"/>
                          <a:cs typeface="Calibri" panose="020F0502020204030204" pitchFamily="34" charset="0"/>
                        </a:rPr>
                        <a:t>)</a:t>
                      </a: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a:effectLst/>
                          <a:latin typeface="Calibri" panose="020F0502020204030204" pitchFamily="34" charset="0"/>
                          <a:cs typeface="Calibri" panose="020F0502020204030204" pitchFamily="34" charset="0"/>
                        </a:rPr>
                        <a:t>PQC Evaluation based on security, performance, and feasibility</a:t>
                      </a:r>
                      <a:endParaRPr lang="en-US" sz="1600" b="0" i="0" u="none" strike="noStrike">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u="none" strike="noStrike" dirty="0">
                          <a:effectLst/>
                          <a:latin typeface="Calibri" panose="020F0502020204030204" pitchFamily="34" charset="0"/>
                          <a:cs typeface="Calibri" panose="020F0502020204030204" pitchFamily="34" charset="0"/>
                        </a:rPr>
                        <a:t>Ongoing selection process for suitable algorithms</a:t>
                      </a:r>
                      <a:endParaRPr lang="en-US" sz="1600" b="0"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extLst>
                  <a:ext uri="{0D108BD9-81ED-4DB2-BD59-A6C34878D82A}">
                    <a16:rowId xmlns:a16="http://schemas.microsoft.com/office/drawing/2014/main" val="470857180"/>
                  </a:ext>
                </a:extLst>
              </a:tr>
              <a:tr h="1074861">
                <a:tc>
                  <a:txBody>
                    <a:bodyPr/>
                    <a:lstStyle/>
                    <a:p>
                      <a:pPr algn="ctr" fontAlgn="ctr"/>
                      <a:r>
                        <a:rPr lang="en-US" sz="1600" b="1" i="0" u="none" strike="noStrike" dirty="0">
                          <a:solidFill>
                            <a:srgbClr val="000000"/>
                          </a:solidFill>
                          <a:effectLst/>
                          <a:latin typeface="Calibri" panose="020F0502020204030204" pitchFamily="34" charset="0"/>
                          <a:cs typeface="Calibri" panose="020F0502020204030204" pitchFamily="34" charset="0"/>
                        </a:rPr>
                        <a:t>Middle East</a:t>
                      </a:r>
                    </a:p>
                  </a:txBody>
                  <a:tcPr marL="8340" marR="8340" marT="8340" marB="0" anchor="ctr"/>
                </a:tc>
                <a:tc>
                  <a:txBody>
                    <a:bodyPr/>
                    <a:lstStyle/>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KSA: NCA (National Cybersecurity Authority) - NCS-2:2025</a:t>
                      </a: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dirty="0">
                          <a:latin typeface="Calibri" panose="020F0502020204030204" pitchFamily="34" charset="0"/>
                          <a:cs typeface="Calibri" panose="020F0502020204030204" pitchFamily="34" charset="0"/>
                        </a:rPr>
                        <a:t>- UAE:</a:t>
                      </a:r>
                      <a:r>
                        <a:rPr lang="en-US" sz="1600" dirty="0">
                          <a:latin typeface="Calibri" panose="020F0502020204030204" pitchFamily="34" charset="0"/>
                          <a:cs typeface="Calibri" panose="020F0502020204030204" pitchFamily="34" charset="0"/>
                        </a:rPr>
                        <a:t> </a:t>
                      </a:r>
                      <a:r>
                        <a:rPr lang="en-US" sz="1600" b="1" dirty="0">
                          <a:latin typeface="Calibri" panose="020F0502020204030204" pitchFamily="34" charset="0"/>
                          <a:cs typeface="Calibri" panose="020F0502020204030204" pitchFamily="34" charset="0"/>
                        </a:rPr>
                        <a:t>UAECSC</a:t>
                      </a:r>
                      <a:r>
                        <a:rPr lang="en-US" sz="1600" dirty="0">
                          <a:latin typeface="Calibri" panose="020F0502020204030204" pitchFamily="34" charset="0"/>
                          <a:cs typeface="Calibri" panose="020F0502020204030204" pitchFamily="34" charset="0"/>
                        </a:rPr>
                        <a:t> (Cyber Security Council) </a:t>
                      </a:r>
                      <a:r>
                        <a:rPr lang="en-US" sz="1600" b="1" dirty="0">
                          <a:latin typeface="Calibri" panose="020F0502020204030204" pitchFamily="34" charset="0"/>
                          <a:cs typeface="Calibri" panose="020F0502020204030204" pitchFamily="34" charset="0"/>
                        </a:rPr>
                        <a:t>National Encryption Policy</a:t>
                      </a: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dirty="0">
                          <a:latin typeface="Calibri" panose="020F0502020204030204" pitchFamily="34" charset="0"/>
                          <a:cs typeface="Calibri" panose="020F0502020204030204" pitchFamily="34" charset="0"/>
                        </a:rPr>
                        <a:t>- Qatar: NCSA</a:t>
                      </a:r>
                      <a:r>
                        <a:rPr lang="en-US" sz="1600" dirty="0">
                          <a:latin typeface="Calibri" panose="020F0502020204030204" pitchFamily="34" charset="0"/>
                          <a:cs typeface="Calibri" panose="020F0502020204030204" pitchFamily="34" charset="0"/>
                        </a:rPr>
                        <a:t> (National Cybersecurity Agency) - </a:t>
                      </a:r>
                      <a:r>
                        <a:rPr lang="en-US" sz="1600" b="1" dirty="0">
                          <a:latin typeface="Calibri" panose="020F0502020204030204" pitchFamily="34" charset="0"/>
                          <a:cs typeface="Calibri" panose="020F0502020204030204" pitchFamily="34" charset="0"/>
                        </a:rPr>
                        <a:t>Strategy 2024–2030</a:t>
                      </a:r>
                    </a:p>
                    <a:p>
                      <a:pPr algn="l" fontAlgn="ctr"/>
                      <a:endParaRPr lang="en-US" sz="1600" b="1" i="0" u="none" strike="noStrike" dirty="0">
                        <a:solidFill>
                          <a:srgbClr val="000000"/>
                        </a:solidFill>
                        <a:effectLst/>
                        <a:latin typeface="Calibri" panose="020F0502020204030204" pitchFamily="34" charset="0"/>
                        <a:cs typeface="Calibri" panose="020F0502020204030204" pitchFamily="34" charset="0"/>
                      </a:endParaRPr>
                    </a:p>
                  </a:txBody>
                  <a:tcPr marL="8340" marR="8340" marT="8340" marB="0" anchor="ctr"/>
                </a:tc>
                <a:tc>
                  <a:txBody>
                    <a:bodyPr/>
                    <a:lstStyle/>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KSA</a:t>
                      </a:r>
                      <a:r>
                        <a:rPr lang="en-US" sz="1600" b="0" i="0" u="none" strike="noStrike" dirty="0">
                          <a:solidFill>
                            <a:srgbClr val="000000"/>
                          </a:solidFill>
                          <a:effectLst/>
                          <a:latin typeface="Calibri" panose="020F0502020204030204" pitchFamily="34" charset="0"/>
                          <a:cs typeface="Calibri" panose="020F0502020204030204" pitchFamily="34" charset="0"/>
                        </a:rPr>
                        <a:t>: </a:t>
                      </a:r>
                      <a:r>
                        <a:rPr lang="en-US" sz="1600" b="1" i="0" u="none" strike="noStrike" dirty="0">
                          <a:solidFill>
                            <a:srgbClr val="000000"/>
                          </a:solidFill>
                          <a:effectLst/>
                          <a:latin typeface="Calibri" panose="020F0502020204030204" pitchFamily="34" charset="0"/>
                          <a:cs typeface="Calibri" panose="020F0502020204030204" pitchFamily="34" charset="0"/>
                        </a:rPr>
                        <a:t>Dec 2025 – </a:t>
                      </a:r>
                      <a:r>
                        <a:rPr lang="en-US" sz="1600" b="1" i="0" u="none" strike="noStrike" dirty="0" err="1">
                          <a:solidFill>
                            <a:srgbClr val="000000"/>
                          </a:solidFill>
                          <a:effectLst/>
                          <a:latin typeface="Calibri" panose="020F0502020204030204" pitchFamily="34" charset="0"/>
                          <a:cs typeface="Calibri" panose="020F0502020204030204" pitchFamily="34" charset="0"/>
                        </a:rPr>
                        <a:t>Q2</a:t>
                      </a:r>
                      <a:r>
                        <a:rPr lang="en-US" sz="1600" b="1" i="0" u="none" strike="noStrike" dirty="0">
                          <a:solidFill>
                            <a:srgbClr val="000000"/>
                          </a:solidFill>
                          <a:effectLst/>
                          <a:latin typeface="Calibri" panose="020F0502020204030204" pitchFamily="34" charset="0"/>
                          <a:cs typeface="Calibri" panose="020F0502020204030204" pitchFamily="34" charset="0"/>
                        </a:rPr>
                        <a:t> 2026</a:t>
                      </a:r>
                      <a:r>
                        <a:rPr lang="en-US" sz="1600" b="0" i="0" u="none" strike="noStrike" dirty="0">
                          <a:solidFill>
                            <a:srgbClr val="000000"/>
                          </a:solidFill>
                          <a:effectLst/>
                          <a:latin typeface="Calibri" panose="020F0502020204030204" pitchFamily="34" charset="0"/>
                          <a:cs typeface="Calibri" panose="020F0502020204030204" pitchFamily="34" charset="0"/>
                        </a:rPr>
                        <a:t>: Mandatory submission of PQC Risk Assessments and "Advanced" level crypto-inventories for CNI</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UAE</a:t>
                      </a:r>
                      <a:r>
                        <a:rPr lang="en-US" sz="1600" b="0" i="0" u="none" strike="noStrike" dirty="0">
                          <a:solidFill>
                            <a:srgbClr val="000000"/>
                          </a:solidFill>
                          <a:effectLst/>
                          <a:latin typeface="Calibri" panose="020F0502020204030204" pitchFamily="34" charset="0"/>
                          <a:cs typeface="Calibri" panose="020F0502020204030204" pitchFamily="34" charset="0"/>
                        </a:rPr>
                        <a:t>: </a:t>
                      </a:r>
                      <a:r>
                        <a:rPr lang="en-US" sz="1600" b="1" i="0" u="none" strike="noStrike" dirty="0">
                          <a:solidFill>
                            <a:srgbClr val="000000"/>
                          </a:solidFill>
                          <a:effectLst/>
                          <a:latin typeface="Calibri" panose="020F0502020204030204" pitchFamily="34" charset="0"/>
                          <a:cs typeface="Calibri" panose="020F0502020204030204" pitchFamily="34" charset="0"/>
                        </a:rPr>
                        <a:t>May – July 2026</a:t>
                      </a:r>
                      <a:r>
                        <a:rPr lang="en-US" sz="1600" b="0" i="0" u="none" strike="noStrike" dirty="0">
                          <a:solidFill>
                            <a:srgbClr val="000000"/>
                          </a:solidFill>
                          <a:effectLst/>
                          <a:latin typeface="Calibri" panose="020F0502020204030204" pitchFamily="34" charset="0"/>
                          <a:cs typeface="Calibri" panose="020F0502020204030204" pitchFamily="34" charset="0"/>
                        </a:rPr>
                        <a:t>: Entities must submit PQC Migration Plans within 180 days of regulatory "Phase 0" notification.</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1" i="0" u="none" strike="noStrike" dirty="0">
                          <a:solidFill>
                            <a:srgbClr val="000000"/>
                          </a:solidFill>
                          <a:effectLst/>
                          <a:latin typeface="Calibri" panose="020F0502020204030204" pitchFamily="34" charset="0"/>
                          <a:cs typeface="Calibri" panose="020F0502020204030204" pitchFamily="34" charset="0"/>
                        </a:rPr>
                        <a:t>- Qatar</a:t>
                      </a:r>
                      <a:r>
                        <a:rPr lang="en-US" sz="1600" b="0" i="0" u="none" strike="noStrike" dirty="0">
                          <a:solidFill>
                            <a:srgbClr val="000000"/>
                          </a:solidFill>
                          <a:effectLst/>
                          <a:latin typeface="Calibri" panose="020F0502020204030204" pitchFamily="34" charset="0"/>
                          <a:cs typeface="Calibri" panose="020F0502020204030204" pitchFamily="34" charset="0"/>
                        </a:rPr>
                        <a:t>: </a:t>
                      </a:r>
                      <a:r>
                        <a:rPr lang="en-US" sz="1600" b="1" i="0" u="none" strike="noStrike" dirty="0">
                          <a:solidFill>
                            <a:srgbClr val="000000"/>
                          </a:solidFill>
                          <a:effectLst/>
                          <a:latin typeface="Calibri" panose="020F0502020204030204" pitchFamily="34" charset="0"/>
                          <a:cs typeface="Calibri" panose="020F0502020204030204" pitchFamily="34" charset="0"/>
                        </a:rPr>
                        <a:t>end of 2026</a:t>
                      </a:r>
                      <a:r>
                        <a:rPr lang="en-US" sz="1600" b="0" i="0" u="none" strike="noStrike" dirty="0">
                          <a:solidFill>
                            <a:srgbClr val="000000"/>
                          </a:solidFill>
                          <a:effectLst/>
                          <a:latin typeface="Calibri" panose="020F0502020204030204" pitchFamily="34" charset="0"/>
                          <a:cs typeface="Calibri" panose="020F0502020204030204" pitchFamily="34" charset="0"/>
                        </a:rPr>
                        <a:t>: Modernization of financial sector PKI to support hybrid PQC/classical algorithms.</a:t>
                      </a:r>
                    </a:p>
                  </a:txBody>
                  <a:tcPr marL="8340" marR="8340" marT="8340" marB="0" anchor="ctr"/>
                </a:tc>
                <a:tc>
                  <a:txBody>
                    <a:bodyPr/>
                    <a:lstStyle/>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NIST Baseline: ML-KEM (Kyber), ML-DSA (</a:t>
                      </a:r>
                      <a:r>
                        <a:rPr lang="en-US" sz="1600" b="0" i="0" u="none" strike="noStrike" dirty="0" err="1">
                          <a:solidFill>
                            <a:srgbClr val="000000"/>
                          </a:solidFill>
                          <a:effectLst/>
                          <a:latin typeface="Calibri" panose="020F0502020204030204" pitchFamily="34" charset="0"/>
                          <a:cs typeface="Calibri" panose="020F0502020204030204" pitchFamily="34" charset="0"/>
                        </a:rPr>
                        <a:t>Dilithium</a:t>
                      </a:r>
                      <a:r>
                        <a:rPr lang="en-US" sz="1600" b="0" i="0" u="none" strike="noStrike" dirty="0">
                          <a:solidFill>
                            <a:srgbClr val="000000"/>
                          </a:solidFill>
                          <a:effectLst/>
                          <a:latin typeface="Calibri" panose="020F0502020204030204" pitchFamily="34" charset="0"/>
                          <a:cs typeface="Calibri" panose="020F0502020204030204" pitchFamily="34" charset="0"/>
                        </a:rPr>
                        <a:t>).</a:t>
                      </a: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NCS-2 Requirement: "Advanced" level systems must support Crypto-Agility and hybrid key exchange (e.g., </a:t>
                      </a:r>
                      <a:r>
                        <a:rPr lang="en-US" sz="1600" b="0" i="0" u="none" strike="noStrike" dirty="0" err="1">
                          <a:solidFill>
                            <a:srgbClr val="000000"/>
                          </a:solidFill>
                          <a:effectLst/>
                          <a:latin typeface="Calibri" panose="020F0502020204030204" pitchFamily="34" charset="0"/>
                          <a:cs typeface="Calibri" panose="020F0502020204030204" pitchFamily="34" charset="0"/>
                        </a:rPr>
                        <a:t>X25519</a:t>
                      </a:r>
                      <a:r>
                        <a:rPr lang="en-US" sz="1600" b="0" i="0" u="none" strike="noStrike" dirty="0">
                          <a:solidFill>
                            <a:srgbClr val="000000"/>
                          </a:solidFill>
                          <a:effectLst/>
                          <a:latin typeface="Calibri" panose="020F0502020204030204" pitchFamily="34" charset="0"/>
                          <a:cs typeface="Calibri" panose="020F0502020204030204" pitchFamily="34" charset="0"/>
                        </a:rPr>
                        <a:t> + ML-KEM).</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Sovereign PQC: TII-optimized versions of ML-KEM/ML-DSA.</a:t>
                      </a: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Spec: Mandatory use of UAE-accredited libraries for "Priority Entities" to ensure digital sovereignty.</a:t>
                      </a:r>
                    </a:p>
                    <a:p>
                      <a:pPr algn="l" fontAlgn="ctr"/>
                      <a:endParaRPr lang="en-US" sz="1600" b="0" i="0" u="none" strike="noStrike" dirty="0">
                        <a:solidFill>
                          <a:srgbClr val="000000"/>
                        </a:solidFill>
                        <a:effectLst/>
                        <a:latin typeface="Calibri" panose="020F0502020204030204" pitchFamily="34" charset="0"/>
                        <a:cs typeface="Calibri" panose="020F0502020204030204" pitchFamily="34" charset="0"/>
                      </a:endParaRPr>
                    </a:p>
                    <a:p>
                      <a:pPr algn="l" fontAlgn="ctr"/>
                      <a:r>
                        <a:rPr lang="en-US" sz="1600" b="0" i="0" u="none" strike="noStrike" dirty="0">
                          <a:solidFill>
                            <a:srgbClr val="000000"/>
                          </a:solidFill>
                          <a:effectLst/>
                          <a:latin typeface="Calibri" panose="020F0502020204030204" pitchFamily="34" charset="0"/>
                          <a:cs typeface="Calibri" panose="020F0502020204030204" pitchFamily="34" charset="0"/>
                        </a:rPr>
                        <a:t>Hybrid Resilience: Emphasis on dual-signature schemes and QKD (Quantum Key Distribution) for critical fiber backbones in the financial sector.</a:t>
                      </a:r>
                    </a:p>
                  </a:txBody>
                  <a:tcPr marL="8340" marR="8340" marT="8340" marB="0" anchor="ctr"/>
                </a:tc>
                <a:extLst>
                  <a:ext uri="{0D108BD9-81ED-4DB2-BD59-A6C34878D82A}">
                    <a16:rowId xmlns:a16="http://schemas.microsoft.com/office/drawing/2014/main" val="4274379056"/>
                  </a:ext>
                </a:extLst>
              </a:tr>
            </a:tbl>
          </a:graphicData>
        </a:graphic>
      </p:graphicFrame>
    </p:spTree>
    <p:extLst>
      <p:ext uri="{BB962C8B-B14F-4D97-AF65-F5344CB8AC3E}">
        <p14:creationId xmlns:p14="http://schemas.microsoft.com/office/powerpoint/2010/main" val="3615137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0FB4-63D7-B057-229A-D92909D623B6}"/>
            </a:ext>
          </a:extLst>
        </p:cNvPr>
        <p:cNvGrpSpPr/>
        <p:nvPr/>
      </p:nvGrpSpPr>
      <p:grpSpPr>
        <a:xfrm>
          <a:off x="0" y="0"/>
          <a:ext cx="0" cy="0"/>
          <a:chOff x="0" y="0"/>
          <a:chExt cx="0" cy="0"/>
        </a:xfrm>
      </p:grpSpPr>
      <p:sp>
        <p:nvSpPr>
          <p:cNvPr id="2" name="TextShape 1">
            <a:extLst>
              <a:ext uri="{FF2B5EF4-FFF2-40B4-BE49-F238E27FC236}">
                <a16:creationId xmlns:a16="http://schemas.microsoft.com/office/drawing/2014/main" id="{94352833-29E6-CEA5-ADCD-3A6CAFC36B51}"/>
              </a:ext>
            </a:extLst>
          </p:cNvPr>
          <p:cNvSpPr txBox="1"/>
          <p:nvPr/>
        </p:nvSpPr>
        <p:spPr>
          <a:xfrm>
            <a:off x="456075" y="228600"/>
            <a:ext cx="13718250" cy="865381"/>
          </a:xfrm>
          <a:prstGeom prst="rect">
            <a:avLst/>
          </a:prstGeom>
          <a:noFill/>
          <a:ln>
            <a:noFill/>
          </a:ln>
        </p:spPr>
        <p:txBody>
          <a:bodyPr lIns="0" tIns="0" rIns="0" bIns="0">
            <a:noAutofit/>
          </a:bodyPr>
          <a:lstStyle/>
          <a:p>
            <a:pPr>
              <a:lnSpc>
                <a:spcPct val="90000"/>
              </a:lnSpc>
              <a:defRPr/>
            </a:pPr>
            <a:r>
              <a:rPr lang="en-US" sz="3840" b="1" spc="-2" dirty="0">
                <a:solidFill>
                  <a:srgbClr val="000000"/>
                </a:solidFill>
                <a:latin typeface="Calibri" panose="020F0502020204030204" pitchFamily="34" charset="0"/>
                <a:ea typeface="IBM Plex Sans"/>
                <a:cs typeface="Calibri" panose="020F0502020204030204" pitchFamily="34" charset="0"/>
              </a:rPr>
              <a:t>QSRI: Quantum-Safe Readiness Index Assessment</a:t>
            </a:r>
            <a:endParaRPr lang="en-US" sz="3840" spc="-2" dirty="0">
              <a:solidFill>
                <a:srgbClr val="000000"/>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125ECBDA-30C9-E53E-8D23-BF24A5B04DA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28600" y="1071496"/>
            <a:ext cx="14173200" cy="6703183"/>
          </a:xfrm>
          <a:prstGeom prst="rect">
            <a:avLst/>
          </a:prstGeom>
        </p:spPr>
      </p:pic>
    </p:spTree>
    <p:extLst>
      <p:ext uri="{BB962C8B-B14F-4D97-AF65-F5344CB8AC3E}">
        <p14:creationId xmlns:p14="http://schemas.microsoft.com/office/powerpoint/2010/main" val="1714632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B4A2C7-919A-944A-9099-B209B01E910B}"/>
              </a:ext>
            </a:extLst>
          </p:cNvPr>
          <p:cNvSpPr>
            <a:spLocks noGrp="1"/>
          </p:cNvSpPr>
          <p:nvPr>
            <p:ph type="title"/>
          </p:nvPr>
        </p:nvSpPr>
        <p:spPr>
          <a:xfrm>
            <a:off x="304800" y="330270"/>
            <a:ext cx="14020800" cy="533400"/>
          </a:xfrm>
        </p:spPr>
        <p:txBody>
          <a:bodyPr>
            <a:noAutofit/>
          </a:bodyPr>
          <a:lstStyle/>
          <a:p>
            <a:pPr algn="ctr"/>
            <a:r>
              <a:rPr lang="en-US" sz="4000" b="1" dirty="0">
                <a:latin typeface="Calibri" panose="020F0502020204030204" pitchFamily="34" charset="0"/>
                <a:cs typeface="Calibri" panose="020F0502020204030204" pitchFamily="34" charset="0"/>
              </a:rPr>
              <a:t>Quantum Risk Assessment</a:t>
            </a:r>
            <a:br>
              <a:rPr lang="en-US" sz="3840" b="1" dirty="0">
                <a:solidFill>
                  <a:schemeClr val="bg1"/>
                </a:solidFill>
              </a:rPr>
            </a:br>
            <a:r>
              <a:rPr lang="en-US" sz="3200" b="1" dirty="0">
                <a:solidFill>
                  <a:schemeClr val="bg1"/>
                </a:solidFill>
              </a:rPr>
              <a:t>Post-Quantum Cryptography Assessment Service </a:t>
            </a:r>
            <a:endParaRPr lang="en-US" sz="4480" dirty="0">
              <a:solidFill>
                <a:schemeClr val="bg1"/>
              </a:solidFill>
            </a:endParaRPr>
          </a:p>
        </p:txBody>
      </p:sp>
      <p:sp>
        <p:nvSpPr>
          <p:cNvPr id="3" name="TextBox 2">
            <a:extLst>
              <a:ext uri="{FF2B5EF4-FFF2-40B4-BE49-F238E27FC236}">
                <a16:creationId xmlns:a16="http://schemas.microsoft.com/office/drawing/2014/main" id="{35CD6072-C7D9-664C-910F-2B9485D57837}"/>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560" dirty="0" err="1">
              <a:solidFill>
                <a:srgbClr val="051243"/>
              </a:solidFill>
              <a:latin typeface="Calibri" panose="020F0502020204030204" pitchFamily="34" charset="0"/>
              <a:ea typeface="IBM Plex Sans" charset="0"/>
              <a:cs typeface="Calibri" panose="020F0502020204030204" pitchFamily="34" charset="0"/>
            </a:endParaRPr>
          </a:p>
        </p:txBody>
      </p:sp>
      <p:pic>
        <p:nvPicPr>
          <p:cNvPr id="5" name="Picture 4">
            <a:extLst>
              <a:ext uri="{FF2B5EF4-FFF2-40B4-BE49-F238E27FC236}">
                <a16:creationId xmlns:a16="http://schemas.microsoft.com/office/drawing/2014/main" id="{F2814A3E-6A8F-C8E8-5DA7-12017B546F7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53251" y="1814747"/>
            <a:ext cx="1028701" cy="1181101"/>
          </a:xfrm>
          <a:prstGeom prst="rect">
            <a:avLst/>
          </a:prstGeom>
        </p:spPr>
      </p:pic>
      <p:pic>
        <p:nvPicPr>
          <p:cNvPr id="6" name="Picture 5">
            <a:extLst>
              <a:ext uri="{FF2B5EF4-FFF2-40B4-BE49-F238E27FC236}">
                <a16:creationId xmlns:a16="http://schemas.microsoft.com/office/drawing/2014/main" id="{C46E2BF3-F2E4-13EE-33A7-5C8078A084A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453252" y="3554039"/>
            <a:ext cx="1206501" cy="1358901"/>
          </a:xfrm>
          <a:prstGeom prst="rect">
            <a:avLst/>
          </a:prstGeom>
        </p:spPr>
      </p:pic>
      <p:pic>
        <p:nvPicPr>
          <p:cNvPr id="7" name="Picture 6">
            <a:extLst>
              <a:ext uri="{FF2B5EF4-FFF2-40B4-BE49-F238E27FC236}">
                <a16:creationId xmlns:a16="http://schemas.microsoft.com/office/drawing/2014/main" id="{3BF2D72F-F879-619E-7A34-5C35D614E5B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453252" y="5469543"/>
            <a:ext cx="1206501" cy="1358901"/>
          </a:xfrm>
          <a:prstGeom prst="rect">
            <a:avLst/>
          </a:prstGeom>
        </p:spPr>
      </p:pic>
      <p:sp>
        <p:nvSpPr>
          <p:cNvPr id="9" name="TextBox 8">
            <a:extLst>
              <a:ext uri="{FF2B5EF4-FFF2-40B4-BE49-F238E27FC236}">
                <a16:creationId xmlns:a16="http://schemas.microsoft.com/office/drawing/2014/main" id="{E51CEED0-4C8E-262B-B469-B1E5B1D0E328}"/>
              </a:ext>
            </a:extLst>
          </p:cNvPr>
          <p:cNvSpPr txBox="1"/>
          <p:nvPr/>
        </p:nvSpPr>
        <p:spPr>
          <a:xfrm>
            <a:off x="1142999" y="1708386"/>
            <a:ext cx="9731326" cy="5262979"/>
          </a:xfrm>
          <a:prstGeom prst="rect">
            <a:avLst/>
          </a:prstGeom>
          <a:noFill/>
        </p:spPr>
        <p:txBody>
          <a:bodyPr wrap="square">
            <a:spAutoFit/>
          </a:bodyPr>
          <a:lstStyle/>
          <a:p>
            <a:pPr defTabSz="731520"/>
            <a:r>
              <a:rPr lang="en-US" sz="2240" b="1" u="sng" dirty="0">
                <a:solidFill>
                  <a:srgbClr val="051243"/>
                </a:solidFill>
                <a:latin typeface="Arial"/>
              </a:rPr>
              <a:t>Crypto Inventory/Health Check</a:t>
            </a:r>
          </a:p>
          <a:p>
            <a:pPr defTabSz="731520"/>
            <a:r>
              <a:rPr lang="en-US" sz="2240" dirty="0">
                <a:solidFill>
                  <a:srgbClr val="051243"/>
                </a:solidFill>
                <a:latin typeface="Arial"/>
              </a:rPr>
              <a:t>Recommend best practices and unique discovery tools to build Crypto inventory and assess your crypto assets for PQ-readiness.</a:t>
            </a:r>
          </a:p>
          <a:p>
            <a:pPr defTabSz="731520"/>
            <a:endParaRPr lang="en-US" sz="2240" dirty="0">
              <a:solidFill>
                <a:srgbClr val="051243"/>
              </a:solidFill>
              <a:latin typeface="Arial"/>
            </a:endParaRPr>
          </a:p>
          <a:p>
            <a:pPr defTabSz="731520"/>
            <a:endParaRPr lang="en-US" sz="2240" dirty="0">
              <a:solidFill>
                <a:srgbClr val="051243"/>
              </a:solidFill>
              <a:latin typeface="Arial"/>
            </a:endParaRPr>
          </a:p>
          <a:p>
            <a:pPr defTabSz="731520"/>
            <a:r>
              <a:rPr lang="en-US" sz="2240" b="1" u="sng" dirty="0">
                <a:solidFill>
                  <a:srgbClr val="051243"/>
                </a:solidFill>
                <a:latin typeface="Arial"/>
              </a:rPr>
              <a:t>PKI Health Check</a:t>
            </a:r>
          </a:p>
          <a:p>
            <a:pPr defTabSz="731520"/>
            <a:r>
              <a:rPr lang="en-US" sz="2240" dirty="0">
                <a:solidFill>
                  <a:srgbClr val="051243"/>
                </a:solidFill>
                <a:latin typeface="Arial"/>
              </a:rPr>
              <a:t>Provide guidance and tools to assess and address the health and risks of PKI system and its readiness for post-quantum cryptography.</a:t>
            </a:r>
          </a:p>
          <a:p>
            <a:pPr defTabSz="731520"/>
            <a:endParaRPr lang="en-US" sz="2240" dirty="0">
              <a:solidFill>
                <a:srgbClr val="051243"/>
              </a:solidFill>
              <a:latin typeface="Arial"/>
            </a:endParaRPr>
          </a:p>
          <a:p>
            <a:pPr defTabSz="731520"/>
            <a:endParaRPr lang="en-US" sz="2240" dirty="0">
              <a:solidFill>
                <a:srgbClr val="051243"/>
              </a:solidFill>
              <a:latin typeface="Arial"/>
            </a:endParaRPr>
          </a:p>
          <a:p>
            <a:pPr defTabSz="731520"/>
            <a:r>
              <a:rPr lang="en-US" sz="2240" b="1" u="sng" dirty="0">
                <a:solidFill>
                  <a:srgbClr val="051243"/>
                </a:solidFill>
                <a:latin typeface="Arial"/>
              </a:rPr>
              <a:t>Post-Quantum Risk Assessment</a:t>
            </a:r>
          </a:p>
          <a:p>
            <a:pPr defTabSz="731520"/>
            <a:r>
              <a:rPr lang="en-US" sz="2240" dirty="0">
                <a:solidFill>
                  <a:srgbClr val="051243"/>
                </a:solidFill>
                <a:latin typeface="Arial"/>
              </a:rPr>
              <a:t>Identify the algorithm and data protection risks in business systems, map out migration plan and timeframes, and review governance against best practices for control, compliance, and skills in readiness for post-quantum migration testing and implementation.</a:t>
            </a:r>
            <a:endParaRPr lang="en-EG" sz="2240" dirty="0">
              <a:solidFill>
                <a:srgbClr val="051243"/>
              </a:solidFill>
              <a:latin typeface="Arial"/>
            </a:endParaRPr>
          </a:p>
        </p:txBody>
      </p:sp>
    </p:spTree>
    <p:extLst>
      <p:ext uri="{BB962C8B-B14F-4D97-AF65-F5344CB8AC3E}">
        <p14:creationId xmlns:p14="http://schemas.microsoft.com/office/powerpoint/2010/main" val="2489434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AAE06-CA2F-3868-AA9F-FB8D45F81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7F594-B39A-FAF9-176F-7E77D6A5DBD4}"/>
              </a:ext>
            </a:extLst>
          </p:cNvPr>
          <p:cNvSpPr>
            <a:spLocks noGrp="1"/>
          </p:cNvSpPr>
          <p:nvPr>
            <p:ph type="title"/>
          </p:nvPr>
        </p:nvSpPr>
        <p:spPr/>
        <p:txBody>
          <a:bodyPr/>
          <a:lstStyle/>
          <a:p>
            <a:pPr algn="ctr"/>
            <a:r>
              <a:rPr lang="en-US" sz="3200" b="1" dirty="0"/>
              <a:t>Today’s Classical Cryptographic Algorithms and Protocols</a:t>
            </a:r>
          </a:p>
        </p:txBody>
      </p:sp>
      <p:sp>
        <p:nvSpPr>
          <p:cNvPr id="3" name="Content Placeholder 2">
            <a:extLst>
              <a:ext uri="{FF2B5EF4-FFF2-40B4-BE49-F238E27FC236}">
                <a16:creationId xmlns:a16="http://schemas.microsoft.com/office/drawing/2014/main" id="{1DC6BD22-E58B-9E52-BE21-0BC13E78ADEA}"/>
              </a:ext>
            </a:extLst>
          </p:cNvPr>
          <p:cNvSpPr>
            <a:spLocks noGrp="1"/>
          </p:cNvSpPr>
          <p:nvPr>
            <p:ph idx="4294967295"/>
          </p:nvPr>
        </p:nvSpPr>
        <p:spPr>
          <a:xfrm>
            <a:off x="609600" y="1066800"/>
            <a:ext cx="11277600" cy="5257800"/>
          </a:xfrm>
        </p:spPr>
        <p:txBody>
          <a:bodyPr/>
          <a:lstStyle/>
          <a:p>
            <a:pPr marL="457200" indent="-457200">
              <a:buFont typeface="Arial" panose="020B0604020202020204" pitchFamily="34" charset="0"/>
              <a:buChar char="•"/>
            </a:pPr>
            <a:r>
              <a:rPr lang="en-US" sz="2800" b="1" dirty="0"/>
              <a:t>Symmetric Encryption</a:t>
            </a:r>
            <a:r>
              <a:rPr lang="en-US" sz="2800" dirty="0"/>
              <a:t>: AES (128/192/256-bit), 3DES, Blowfish.</a:t>
            </a:r>
          </a:p>
          <a:p>
            <a:pPr marL="457200" indent="-457200">
              <a:buFont typeface="Arial" panose="020B0604020202020204" pitchFamily="34" charset="0"/>
              <a:buChar char="•"/>
            </a:pPr>
            <a:r>
              <a:rPr lang="en-US" sz="2800" b="1" dirty="0"/>
              <a:t>Asymmetric Encryption</a:t>
            </a:r>
            <a:r>
              <a:rPr lang="en-US" sz="2800" dirty="0"/>
              <a:t>: RSA (2048/3072/4096-bit), Elliptic Curve Cryptography (ECC) variants like ECDSA and ECDH.</a:t>
            </a:r>
          </a:p>
          <a:p>
            <a:pPr marL="457200" indent="-457200">
              <a:buFont typeface="Arial" panose="020B0604020202020204" pitchFamily="34" charset="0"/>
              <a:buChar char="•"/>
            </a:pPr>
            <a:r>
              <a:rPr lang="en-US" sz="2800" b="1" dirty="0"/>
              <a:t>Hash Functions</a:t>
            </a:r>
            <a:r>
              <a:rPr lang="en-US" sz="2800" dirty="0"/>
              <a:t>: SHA-1, SHA-2 family (SHA-256, SHA-384, SHA-512), SHA-3.</a:t>
            </a:r>
          </a:p>
          <a:p>
            <a:pPr marL="457200" indent="-457200">
              <a:buFont typeface="Arial" panose="020B0604020202020204" pitchFamily="34" charset="0"/>
              <a:buChar char="•"/>
            </a:pPr>
            <a:r>
              <a:rPr lang="en-US" sz="2800" b="1" dirty="0"/>
              <a:t>Key Exchange Protocols</a:t>
            </a:r>
            <a:r>
              <a:rPr lang="en-US" sz="2800" dirty="0"/>
              <a:t>: Diffie-Hellman (DH), Elliptic Curve Diffie-Hellman (ECDH).</a:t>
            </a:r>
          </a:p>
          <a:p>
            <a:pPr marL="457200" indent="-457200">
              <a:buFont typeface="Arial" panose="020B0604020202020204" pitchFamily="34" charset="0"/>
              <a:buChar char="•"/>
            </a:pPr>
            <a:r>
              <a:rPr lang="en-US" sz="2800" b="1" dirty="0"/>
              <a:t>Digital Signatures</a:t>
            </a:r>
            <a:r>
              <a:rPr lang="en-US" sz="2800" dirty="0"/>
              <a:t>: RSA, DSA, ECDSA.</a:t>
            </a:r>
          </a:p>
          <a:p>
            <a:pPr marL="457200" indent="-457200">
              <a:buFont typeface="Arial" panose="020B0604020202020204" pitchFamily="34" charset="0"/>
              <a:buChar char="•"/>
            </a:pPr>
            <a:r>
              <a:rPr lang="en-US" sz="2800" b="1" dirty="0"/>
              <a:t>Cipher Suites</a:t>
            </a:r>
            <a:r>
              <a:rPr lang="en-US" sz="2800" dirty="0"/>
              <a:t>: TLS/SSL protocols utilize various cipher suites combining the above algorithms for secure communications.</a:t>
            </a:r>
          </a:p>
          <a:p>
            <a:pPr marL="457200" indent="-457200">
              <a:buFont typeface="Arial" panose="020B0604020202020204" pitchFamily="34" charset="0"/>
              <a:buChar char="•"/>
            </a:pPr>
            <a:r>
              <a:rPr lang="en-US" sz="2800" b="1" dirty="0"/>
              <a:t>Cryptographic Libraries</a:t>
            </a:r>
            <a:r>
              <a:rPr lang="en-US" sz="2800" dirty="0"/>
              <a:t>: OpenSSL, Bouncy Castle, Microsoft CryptoAPI, and others provide implementations of these algorithms.</a:t>
            </a:r>
            <a:endParaRPr lang="en-EG" sz="2800" dirty="0"/>
          </a:p>
        </p:txBody>
      </p:sp>
      <p:pic>
        <p:nvPicPr>
          <p:cNvPr id="3074" name="Picture 2" descr="The three main categories of standard cryptography algorithms | Download  Scientific Diagram">
            <a:extLst>
              <a:ext uri="{FF2B5EF4-FFF2-40B4-BE49-F238E27FC236}">
                <a16:creationId xmlns:a16="http://schemas.microsoft.com/office/drawing/2014/main" id="{FDB4C5F6-36F2-075C-4B6A-B3E97B29C8EB}"/>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2192000" y="2286000"/>
            <a:ext cx="2254250" cy="3348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025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9B005-2EB7-718D-AE90-9F60889E9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8912F-0E2B-D311-DDCD-92D9E8BB92B6}"/>
              </a:ext>
            </a:extLst>
          </p:cNvPr>
          <p:cNvSpPr>
            <a:spLocks noGrp="1"/>
          </p:cNvSpPr>
          <p:nvPr>
            <p:ph type="title"/>
          </p:nvPr>
        </p:nvSpPr>
        <p:spPr/>
        <p:txBody>
          <a:bodyPr/>
          <a:lstStyle/>
          <a:p>
            <a:pPr algn="ctr"/>
            <a:r>
              <a:rPr lang="en-US" sz="3200" b="1"/>
              <a:t>Estimated Cryptographic Algorithm Count</a:t>
            </a:r>
            <a:br>
              <a:rPr lang="en-US" sz="3200" b="1"/>
            </a:br>
            <a:r>
              <a:rPr lang="en-US" sz="3200" b="1"/>
              <a:t>(a.k.a. Crypto Inventory Typical Size/Volume) </a:t>
            </a:r>
            <a:br>
              <a:rPr lang="en-US" sz="3200" b="1"/>
            </a:br>
            <a:endParaRPr lang="en-US" sz="3200" b="1" dirty="0"/>
          </a:p>
        </p:txBody>
      </p:sp>
      <p:sp>
        <p:nvSpPr>
          <p:cNvPr id="3" name="Content Placeholder 2">
            <a:extLst>
              <a:ext uri="{FF2B5EF4-FFF2-40B4-BE49-F238E27FC236}">
                <a16:creationId xmlns:a16="http://schemas.microsoft.com/office/drawing/2014/main" id="{6FE50E3C-F7C7-FCF9-F57D-0818425404E5}"/>
              </a:ext>
            </a:extLst>
          </p:cNvPr>
          <p:cNvSpPr>
            <a:spLocks noGrp="1"/>
          </p:cNvSpPr>
          <p:nvPr>
            <p:ph idx="4294967295"/>
          </p:nvPr>
        </p:nvSpPr>
        <p:spPr>
          <a:xfrm>
            <a:off x="609600" y="1828801"/>
            <a:ext cx="8001000" cy="5257800"/>
          </a:xfrm>
        </p:spPr>
        <p:txBody>
          <a:bodyPr/>
          <a:lstStyle/>
          <a:p>
            <a:pPr marL="514350" indent="-514350">
              <a:buFont typeface="+mj-lt"/>
              <a:buAutoNum type="arabicPeriod"/>
            </a:pPr>
            <a:r>
              <a:rPr lang="en-US" sz="2800" b="1" dirty="0"/>
              <a:t>Per Server/VM</a:t>
            </a:r>
            <a:r>
              <a:rPr lang="en-US" sz="2800" dirty="0"/>
              <a:t>: Each server or VM typically employs </a:t>
            </a:r>
            <a:r>
              <a:rPr lang="en-US" sz="2800" b="1" dirty="0"/>
              <a:t>20–50</a:t>
            </a:r>
            <a:r>
              <a:rPr lang="en-US" sz="2800" dirty="0"/>
              <a:t> distinct cryptographic algorithms. This includes algorithms used by the operating system, installed applications, and security services.</a:t>
            </a:r>
          </a:p>
          <a:p>
            <a:pPr marL="514350" indent="-514350">
              <a:buFont typeface="+mj-lt"/>
              <a:buAutoNum type="arabicPeriod"/>
            </a:pPr>
            <a:endParaRPr lang="en-US" sz="2800" dirty="0"/>
          </a:p>
          <a:p>
            <a:pPr marL="514350" indent="-514350">
              <a:buFont typeface="+mj-lt"/>
              <a:buAutoNum type="arabicPeriod"/>
            </a:pPr>
            <a:r>
              <a:rPr lang="en-US" sz="2800" dirty="0"/>
              <a:t>For example, 100 Servers/VMs: Collectively, a data center with 100 servers or VMs might utilize </a:t>
            </a:r>
            <a:r>
              <a:rPr lang="en-US" sz="2800" b="1" dirty="0"/>
              <a:t>hundreds of unique algorithms </a:t>
            </a:r>
            <a:r>
              <a:rPr lang="en-US" sz="2800" dirty="0"/>
              <a:t>implementation, considering variations in configurations and applications.</a:t>
            </a:r>
            <a:endParaRPr lang="en-EG" sz="2800" dirty="0"/>
          </a:p>
        </p:txBody>
      </p:sp>
      <p:pic>
        <p:nvPicPr>
          <p:cNvPr id="4098" name="Picture 2" descr="Bibliometric Analysis of IoT Lightweight Cryptography">
            <a:extLst>
              <a:ext uri="{FF2B5EF4-FFF2-40B4-BE49-F238E27FC236}">
                <a16:creationId xmlns:a16="http://schemas.microsoft.com/office/drawing/2014/main" id="{2F74B16D-BD53-0857-145F-DA030B6D9F2F}"/>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680450" y="2133600"/>
            <a:ext cx="54229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843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2360F-02C5-2EBA-6BA0-57040B542A45}"/>
              </a:ext>
            </a:extLst>
          </p:cNvPr>
          <p:cNvSpPr>
            <a:spLocks noGrp="1"/>
          </p:cNvSpPr>
          <p:nvPr>
            <p:ph type="title"/>
          </p:nvPr>
        </p:nvSpPr>
        <p:spPr/>
        <p:txBody>
          <a:bodyPr/>
          <a:lstStyle/>
          <a:p>
            <a:pPr algn="ctr"/>
            <a:r>
              <a:rPr lang="en-US" sz="3200" b="1" dirty="0"/>
              <a:t>Discovery Tools for Comprehensive Cryptographic Inventory</a:t>
            </a:r>
            <a:endParaRPr lang="en-EG" sz="3200" b="1" dirty="0"/>
          </a:p>
        </p:txBody>
      </p:sp>
      <p:sp>
        <p:nvSpPr>
          <p:cNvPr id="3" name="Content Placeholder 2">
            <a:extLst>
              <a:ext uri="{FF2B5EF4-FFF2-40B4-BE49-F238E27FC236}">
                <a16:creationId xmlns:a16="http://schemas.microsoft.com/office/drawing/2014/main" id="{86D566F1-7B05-A39A-3C9F-1A93E882C71D}"/>
              </a:ext>
            </a:extLst>
          </p:cNvPr>
          <p:cNvSpPr>
            <a:spLocks noGrp="1"/>
          </p:cNvSpPr>
          <p:nvPr>
            <p:ph idx="4294967295"/>
          </p:nvPr>
        </p:nvSpPr>
        <p:spPr>
          <a:xfrm>
            <a:off x="1676400" y="1066800"/>
            <a:ext cx="11201400" cy="5257800"/>
          </a:xfrm>
        </p:spPr>
        <p:txBody>
          <a:bodyPr/>
          <a:lstStyle/>
          <a:p>
            <a:pPr marL="514350" indent="-514350">
              <a:buFont typeface="+mj-lt"/>
              <a:buAutoNum type="arabicPeriod"/>
            </a:pPr>
            <a:r>
              <a:rPr lang="en-US" sz="2800" dirty="0"/>
              <a:t>Static Code Analysis</a:t>
            </a:r>
          </a:p>
          <a:p>
            <a:pPr marL="514350" indent="-514350">
              <a:buFont typeface="+mj-lt"/>
              <a:buAutoNum type="arabicPeriod"/>
            </a:pPr>
            <a:r>
              <a:rPr lang="en-US" sz="2800" dirty="0"/>
              <a:t>Dynamic Analysis (Runtime Monitoring)</a:t>
            </a:r>
          </a:p>
          <a:p>
            <a:pPr marL="514350" indent="-514350">
              <a:buFont typeface="+mj-lt"/>
              <a:buAutoNum type="arabicPeriod"/>
            </a:pPr>
            <a:r>
              <a:rPr lang="en-US" sz="2800" dirty="0"/>
              <a:t>Network Traffic Analysis</a:t>
            </a:r>
          </a:p>
          <a:p>
            <a:pPr marL="514350" indent="-514350">
              <a:buFont typeface="+mj-lt"/>
              <a:buAutoNum type="arabicPeriod"/>
            </a:pPr>
            <a:r>
              <a:rPr lang="en-US" sz="2800" dirty="0"/>
              <a:t>Configuration and System Scanning</a:t>
            </a:r>
          </a:p>
          <a:p>
            <a:pPr marL="514350" indent="-514350">
              <a:buFont typeface="+mj-lt"/>
              <a:buAutoNum type="arabicPeriod"/>
            </a:pPr>
            <a:r>
              <a:rPr lang="en-US" sz="2800" dirty="0"/>
              <a:t>Dependency Analysis</a:t>
            </a:r>
          </a:p>
          <a:p>
            <a:pPr marL="514350" indent="-514350">
              <a:buFont typeface="+mj-lt"/>
              <a:buAutoNum type="arabicPeriod"/>
            </a:pPr>
            <a:r>
              <a:rPr lang="en-US" sz="2800" dirty="0"/>
              <a:t>Binary Analysis</a:t>
            </a:r>
          </a:p>
          <a:p>
            <a:pPr marL="514350" indent="-514350">
              <a:buFont typeface="+mj-lt"/>
              <a:buAutoNum type="arabicPeriod"/>
            </a:pPr>
            <a:r>
              <a:rPr lang="en-US" sz="2800" dirty="0"/>
              <a:t>Cloud Environment Scanning</a:t>
            </a:r>
          </a:p>
          <a:p>
            <a:pPr marL="514350" indent="-514350">
              <a:buFont typeface="+mj-lt"/>
              <a:buAutoNum type="arabicPeriod"/>
            </a:pPr>
            <a:r>
              <a:rPr lang="en-US" sz="2800" dirty="0"/>
              <a:t>Hardware and Firmware Analysis</a:t>
            </a:r>
          </a:p>
          <a:p>
            <a:pPr marL="514350" indent="-514350">
              <a:buFont typeface="+mj-lt"/>
              <a:buAutoNum type="arabicPeriod"/>
            </a:pPr>
            <a:r>
              <a:rPr lang="en-US" sz="2800" dirty="0"/>
              <a:t>Certificate and Key Management Discovery</a:t>
            </a:r>
          </a:p>
          <a:p>
            <a:pPr marL="514350" indent="-514350">
              <a:buFont typeface="+mj-lt"/>
              <a:buAutoNum type="arabicPeriod"/>
            </a:pPr>
            <a:r>
              <a:rPr lang="en-US" sz="2800" dirty="0"/>
              <a:t>Log Analysis</a:t>
            </a:r>
            <a:endParaRPr lang="en-EG" sz="2800" dirty="0"/>
          </a:p>
        </p:txBody>
      </p:sp>
      <p:pic>
        <p:nvPicPr>
          <p:cNvPr id="5122" name="Picture 2">
            <a:extLst>
              <a:ext uri="{FF2B5EF4-FFF2-40B4-BE49-F238E27FC236}">
                <a16:creationId xmlns:a16="http://schemas.microsoft.com/office/drawing/2014/main" id="{E6550C09-08F0-F316-0466-E07B81CFE188}"/>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636404" y="2506712"/>
            <a:ext cx="5437019" cy="3513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574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4B54-8D4E-66D5-D14E-5648C119E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1E1B9-CFF9-6690-2FA1-BCAA845E3EF9}"/>
              </a:ext>
            </a:extLst>
          </p:cNvPr>
          <p:cNvSpPr>
            <a:spLocks noGrp="1"/>
          </p:cNvSpPr>
          <p:nvPr>
            <p:ph type="title"/>
          </p:nvPr>
        </p:nvSpPr>
        <p:spPr/>
        <p:txBody>
          <a:bodyPr/>
          <a:lstStyle/>
          <a:p>
            <a:pPr algn="ctr"/>
            <a:r>
              <a:rPr lang="en-US" sz="3200" b="1" dirty="0"/>
              <a:t>Building a Comprehensive Cryptographic Bill of Materials (CBOM)</a:t>
            </a:r>
            <a:endParaRPr lang="en-EG" sz="3200" b="1" dirty="0"/>
          </a:p>
        </p:txBody>
      </p:sp>
      <p:sp>
        <p:nvSpPr>
          <p:cNvPr id="3" name="Content Placeholder 2">
            <a:extLst>
              <a:ext uri="{FF2B5EF4-FFF2-40B4-BE49-F238E27FC236}">
                <a16:creationId xmlns:a16="http://schemas.microsoft.com/office/drawing/2014/main" id="{E00CD0C3-F44E-E2E0-C697-CA688C9F4F22}"/>
              </a:ext>
            </a:extLst>
          </p:cNvPr>
          <p:cNvSpPr>
            <a:spLocks noGrp="1"/>
          </p:cNvSpPr>
          <p:nvPr>
            <p:ph idx="4294967295"/>
          </p:nvPr>
        </p:nvSpPr>
        <p:spPr>
          <a:xfrm>
            <a:off x="487180" y="1600200"/>
            <a:ext cx="8275820" cy="5257800"/>
          </a:xfrm>
        </p:spPr>
        <p:txBody>
          <a:bodyPr/>
          <a:lstStyle/>
          <a:p>
            <a:pPr marL="514350" indent="-514350">
              <a:buFont typeface="+mj-lt"/>
              <a:buAutoNum type="arabicPeriod"/>
            </a:pPr>
            <a:r>
              <a:rPr lang="en-US" sz="2800" dirty="0"/>
              <a:t>CBOM serves as a detailed inventory of all cryptographic components (systems, applications, and IoT devices). </a:t>
            </a:r>
          </a:p>
          <a:p>
            <a:pPr marL="514350" indent="-514350">
              <a:buFont typeface="+mj-lt"/>
              <a:buAutoNum type="arabicPeriod"/>
            </a:pPr>
            <a:endParaRPr lang="en-US" sz="2800" dirty="0"/>
          </a:p>
          <a:p>
            <a:pPr marL="514350" indent="-514350">
              <a:buFont typeface="+mj-lt"/>
              <a:buAutoNum type="arabicPeriod"/>
            </a:pPr>
            <a:r>
              <a:rPr lang="en-US" sz="2800" dirty="0"/>
              <a:t>Provides a holistic view of the cryptographic landscape, enabling effective risk management.</a:t>
            </a:r>
          </a:p>
          <a:p>
            <a:pPr marL="514350" indent="-514350">
              <a:buFont typeface="+mj-lt"/>
              <a:buAutoNum type="arabicPeriod"/>
            </a:pPr>
            <a:endParaRPr lang="en-US" sz="2800" dirty="0"/>
          </a:p>
          <a:p>
            <a:pPr marL="514350" indent="-514350">
              <a:buFont typeface="+mj-lt"/>
              <a:buAutoNum type="arabicPeriod"/>
            </a:pPr>
            <a:r>
              <a:rPr lang="en-US" sz="2800" dirty="0"/>
              <a:t>CBOM facilitates compliance with regulatory requirements, that are/will be mandated as part of quantum readiness programs.  </a:t>
            </a:r>
            <a:endParaRPr lang="en-EG" sz="2800" dirty="0"/>
          </a:p>
        </p:txBody>
      </p:sp>
      <p:pic>
        <p:nvPicPr>
          <p:cNvPr id="6146" name="Picture 2" descr="Cryptographic Bill of Materials | CBOM | SBOM | PKI">
            <a:extLst>
              <a:ext uri="{FF2B5EF4-FFF2-40B4-BE49-F238E27FC236}">
                <a16:creationId xmlns:a16="http://schemas.microsoft.com/office/drawing/2014/main" id="{B475E368-BAB5-C1FD-138B-C5CEBF716E4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153400" y="2456369"/>
            <a:ext cx="6318354" cy="3316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729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8592B-BCB9-42AD-F031-671DB3957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B91E1-A094-5F0B-EBB2-9AED9994A10F}"/>
              </a:ext>
            </a:extLst>
          </p:cNvPr>
          <p:cNvSpPr>
            <a:spLocks noGrp="1"/>
          </p:cNvSpPr>
          <p:nvPr>
            <p:ph type="title"/>
          </p:nvPr>
        </p:nvSpPr>
        <p:spPr/>
        <p:txBody>
          <a:bodyPr/>
          <a:lstStyle/>
          <a:p>
            <a:pPr algn="ctr"/>
            <a:r>
              <a:rPr lang="en-US" sz="3200" b="1" dirty="0"/>
              <a:t>Sample Cryptographic Bill of Materials (CBOM)</a:t>
            </a:r>
            <a:endParaRPr lang="en-EG" sz="3200" b="1" dirty="0"/>
          </a:p>
        </p:txBody>
      </p:sp>
      <p:graphicFrame>
        <p:nvGraphicFramePr>
          <p:cNvPr id="4" name="Table 3">
            <a:extLst>
              <a:ext uri="{FF2B5EF4-FFF2-40B4-BE49-F238E27FC236}">
                <a16:creationId xmlns:a16="http://schemas.microsoft.com/office/drawing/2014/main" id="{132A4E88-0144-2464-74B3-F4FABC2A166B}"/>
              </a:ext>
            </a:extLst>
          </p:cNvPr>
          <p:cNvGraphicFramePr>
            <a:graphicFrameLocks noGrp="1"/>
          </p:cNvGraphicFramePr>
          <p:nvPr>
            <p:extLst>
              <p:ext uri="{D42A27DB-BD31-4B8C-83A1-F6EECF244321}">
                <p14:modId xmlns:p14="http://schemas.microsoft.com/office/powerpoint/2010/main" val="4275241893"/>
              </p:ext>
            </p:extLst>
          </p:nvPr>
        </p:nvGraphicFramePr>
        <p:xfrm>
          <a:off x="457201" y="1371601"/>
          <a:ext cx="13487400" cy="6172199"/>
        </p:xfrm>
        <a:graphic>
          <a:graphicData uri="http://schemas.openxmlformats.org/drawingml/2006/table">
            <a:tbl>
              <a:tblPr>
                <a:tableStyleId>{5C22544A-7EE6-4342-B048-85BDC9FD1C3A}</a:tableStyleId>
              </a:tblPr>
              <a:tblGrid>
                <a:gridCol w="1736514">
                  <a:extLst>
                    <a:ext uri="{9D8B030D-6E8A-4147-A177-3AD203B41FA5}">
                      <a16:colId xmlns:a16="http://schemas.microsoft.com/office/drawing/2014/main" val="3365748778"/>
                    </a:ext>
                  </a:extLst>
                </a:gridCol>
                <a:gridCol w="2414179">
                  <a:extLst>
                    <a:ext uri="{9D8B030D-6E8A-4147-A177-3AD203B41FA5}">
                      <a16:colId xmlns:a16="http://schemas.microsoft.com/office/drawing/2014/main" val="3280883474"/>
                    </a:ext>
                  </a:extLst>
                </a:gridCol>
                <a:gridCol w="2164761">
                  <a:extLst>
                    <a:ext uri="{9D8B030D-6E8A-4147-A177-3AD203B41FA5}">
                      <a16:colId xmlns:a16="http://schemas.microsoft.com/office/drawing/2014/main" val="4205584245"/>
                    </a:ext>
                  </a:extLst>
                </a:gridCol>
                <a:gridCol w="1581216">
                  <a:extLst>
                    <a:ext uri="{9D8B030D-6E8A-4147-A177-3AD203B41FA5}">
                      <a16:colId xmlns:a16="http://schemas.microsoft.com/office/drawing/2014/main" val="345499982"/>
                    </a:ext>
                  </a:extLst>
                </a:gridCol>
                <a:gridCol w="1637689">
                  <a:extLst>
                    <a:ext uri="{9D8B030D-6E8A-4147-A177-3AD203B41FA5}">
                      <a16:colId xmlns:a16="http://schemas.microsoft.com/office/drawing/2014/main" val="3657523199"/>
                    </a:ext>
                  </a:extLst>
                </a:gridCol>
                <a:gridCol w="1694160">
                  <a:extLst>
                    <a:ext uri="{9D8B030D-6E8A-4147-A177-3AD203B41FA5}">
                      <a16:colId xmlns:a16="http://schemas.microsoft.com/office/drawing/2014/main" val="1163520955"/>
                    </a:ext>
                  </a:extLst>
                </a:gridCol>
                <a:gridCol w="2258881">
                  <a:extLst>
                    <a:ext uri="{9D8B030D-6E8A-4147-A177-3AD203B41FA5}">
                      <a16:colId xmlns:a16="http://schemas.microsoft.com/office/drawing/2014/main" val="643112071"/>
                    </a:ext>
                  </a:extLst>
                </a:gridCol>
              </a:tblGrid>
              <a:tr h="739098">
                <a:tc>
                  <a:txBody>
                    <a:bodyPr/>
                    <a:lstStyle/>
                    <a:p>
                      <a:pPr algn="ctr" fontAlgn="ctr"/>
                      <a:r>
                        <a:rPr lang="en-US" sz="1800" b="1" u="none" strike="noStrike">
                          <a:effectLst/>
                        </a:rPr>
                        <a:t>Component</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Crypto Algorithm</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Library/Tool Used</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Key Length</a:t>
                      </a:r>
                      <a:br>
                        <a:rPr lang="en-US" sz="1800" b="1" u="none" strike="noStrike">
                          <a:effectLst/>
                        </a:rPr>
                      </a:br>
                      <a:r>
                        <a:rPr lang="en-US" sz="1800" b="1" u="none" strike="noStrike">
                          <a:effectLst/>
                        </a:rPr>
                        <a:t>Cert Type</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Protocol</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a:effectLst/>
                        </a:rPr>
                        <a:t>PQC Readiness</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ctr" fontAlgn="ctr"/>
                      <a:r>
                        <a:rPr lang="en-US" sz="1800" b="1" u="none" strike="noStrike" dirty="0">
                          <a:effectLst/>
                        </a:rPr>
                        <a:t>Immediate Action </a:t>
                      </a:r>
                      <a:br>
                        <a:rPr lang="en-US" sz="1800" b="1" u="none" strike="noStrike" dirty="0">
                          <a:effectLst/>
                        </a:rPr>
                      </a:br>
                      <a:r>
                        <a:rPr lang="en-US" sz="1800" b="1" u="none" strike="noStrike" dirty="0">
                          <a:effectLst/>
                        </a:rPr>
                        <a:t>Needed</a:t>
                      </a:r>
                      <a:endParaRPr lang="en-US" sz="1800" b="1" i="0" u="none" strike="noStrike" dirty="0">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58997781"/>
                  </a:ext>
                </a:extLst>
              </a:tr>
              <a:tr h="998513">
                <a:tc>
                  <a:txBody>
                    <a:bodyPr/>
                    <a:lstStyle/>
                    <a:p>
                      <a:pPr algn="l" fontAlgn="ctr"/>
                      <a:r>
                        <a:rPr lang="en-US" sz="1800" b="1" u="none" strike="noStrike">
                          <a:effectLst/>
                        </a:rPr>
                        <a:t>Web Server (Nginx)</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ECDHE-RSA-AES256-GCM-SHA384</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OpenSSL 1.1.1</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 2048-bit cert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TLS 1.2</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Not Ready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dirty="0">
                          <a:effectLst/>
                        </a:rPr>
                        <a:t>Upgrade to OpenSSL 3.0, disable TLS 1.1</a:t>
                      </a:r>
                      <a:endParaRPr lang="en-US" sz="1800" b="0" i="0" u="none" strike="noStrike" dirty="0">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34193213"/>
                  </a:ext>
                </a:extLst>
              </a:tr>
              <a:tr h="739098">
                <a:tc>
                  <a:txBody>
                    <a:bodyPr/>
                    <a:lstStyle/>
                    <a:p>
                      <a:pPr algn="l" fontAlgn="ctr"/>
                      <a:r>
                        <a:rPr lang="en-US" sz="1800" b="1" u="none" strike="noStrike">
                          <a:effectLst/>
                        </a:rPr>
                        <a:t>Backend API</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RS256 (RSA + SHA256)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Java JWT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 2048-bit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HTTPS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Not Ready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Prepare for PQC JWT</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471489275"/>
                  </a:ext>
                </a:extLst>
              </a:tr>
              <a:tr h="739098">
                <a:tc>
                  <a:txBody>
                    <a:bodyPr/>
                    <a:lstStyle/>
                    <a:p>
                      <a:pPr algn="l" fontAlgn="ctr"/>
                      <a:r>
                        <a:rPr lang="en-US" sz="1800" b="1" u="none" strike="noStrike">
                          <a:effectLst/>
                        </a:rPr>
                        <a:t>Database</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AES-256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Built-in DB encryption</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256-bit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Local Encryption</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N/A</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Rotate keys periodically</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55252603"/>
                  </a:ext>
                </a:extLst>
              </a:tr>
              <a:tr h="739098">
                <a:tc>
                  <a:txBody>
                    <a:bodyPr/>
                    <a:lstStyle/>
                    <a:p>
                      <a:pPr algn="l" fontAlgn="ctr"/>
                      <a:r>
                        <a:rPr lang="en-US" sz="1800" b="1" u="none" strike="noStrike">
                          <a:effectLst/>
                        </a:rPr>
                        <a:t>Mobile App Client</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TLS 1.2, Cert Pinning</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Mobile SDK (native TLS)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 2048-bit cert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HTTPS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Not Tested</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Test PQC readiness</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55132103"/>
                  </a:ext>
                </a:extLst>
              </a:tr>
              <a:tr h="739098">
                <a:tc>
                  <a:txBody>
                    <a:bodyPr/>
                    <a:lstStyle/>
                    <a:p>
                      <a:pPr algn="l" fontAlgn="ctr"/>
                      <a:r>
                        <a:rPr lang="en-US" sz="1800" b="1" u="none" strike="noStrike">
                          <a:effectLst/>
                        </a:rPr>
                        <a:t>Cloud KMS</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RSA-3072</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Google Cloud KMS</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3072-bit key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API</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Evaluating Kyber</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Add PQC support (Kyber)</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1402372244"/>
                  </a:ext>
                </a:extLst>
              </a:tr>
              <a:tr h="739098">
                <a:tc>
                  <a:txBody>
                    <a:bodyPr/>
                    <a:lstStyle/>
                    <a:p>
                      <a:pPr algn="l" fontAlgn="ctr"/>
                      <a:r>
                        <a:rPr lang="en-US" sz="1800" b="1" u="none" strike="noStrike">
                          <a:effectLst/>
                        </a:rPr>
                        <a:t>Auth System</a:t>
                      </a:r>
                      <a:endParaRPr lang="en-US" sz="1800" b="1"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HMAC-SHA256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OAuth2 library</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SHA-256</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OAuth 2.0</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N/A</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Monitor crypto standards</a:t>
                      </a:r>
                      <a:endParaRPr lang="en-US" sz="1800" b="0" i="0" u="none" strike="noStrike">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2366510448"/>
                  </a:ext>
                </a:extLst>
              </a:tr>
              <a:tr h="739098">
                <a:tc>
                  <a:txBody>
                    <a:bodyPr/>
                    <a:lstStyle/>
                    <a:p>
                      <a:pPr algn="l" fontAlgn="ctr"/>
                      <a:r>
                        <a:rPr lang="en-US" sz="1800" b="1" u="none" strike="noStrike" dirty="0">
                          <a:effectLst/>
                        </a:rPr>
                        <a:t>Logging Service</a:t>
                      </a:r>
                      <a:endParaRPr lang="en-US" sz="1800" b="1" i="0" u="none" strike="noStrike" dirty="0">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AES-128</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S3 Server-Side Encryption</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128-bit</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REST API</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a:effectLst/>
                        </a:rPr>
                        <a:t>No</a:t>
                      </a:r>
                      <a:endParaRPr lang="en-US" sz="1800" b="0" i="0" u="none" strike="noStrike">
                        <a:solidFill>
                          <a:srgbClr val="000000"/>
                        </a:solidFill>
                        <a:effectLst/>
                        <a:latin typeface="Calibri" panose="020F0502020204030204" pitchFamily="34" charset="0"/>
                      </a:endParaRPr>
                    </a:p>
                  </a:txBody>
                  <a:tcPr marL="6896" marR="6896" marT="6896" marB="0" anchor="ctr"/>
                </a:tc>
                <a:tc>
                  <a:txBody>
                    <a:bodyPr/>
                    <a:lstStyle/>
                    <a:p>
                      <a:pPr algn="l" fontAlgn="ctr"/>
                      <a:r>
                        <a:rPr lang="en-US" sz="1800" u="none" strike="noStrike" dirty="0">
                          <a:effectLst/>
                        </a:rPr>
                        <a:t>Upgrade to AES-256</a:t>
                      </a:r>
                      <a:endParaRPr lang="en-US" sz="1800" b="0" i="0" u="none" strike="noStrike" dirty="0">
                        <a:solidFill>
                          <a:srgbClr val="000000"/>
                        </a:solidFill>
                        <a:effectLst/>
                        <a:latin typeface="Calibri" panose="020F0502020204030204" pitchFamily="34" charset="0"/>
                      </a:endParaRPr>
                    </a:p>
                  </a:txBody>
                  <a:tcPr marL="6896" marR="6896" marT="6896" marB="0" anchor="ctr"/>
                </a:tc>
                <a:extLst>
                  <a:ext uri="{0D108BD9-81ED-4DB2-BD59-A6C34878D82A}">
                    <a16:rowId xmlns:a16="http://schemas.microsoft.com/office/drawing/2014/main" val="3393861658"/>
                  </a:ext>
                </a:extLst>
              </a:tr>
            </a:tbl>
          </a:graphicData>
        </a:graphic>
      </p:graphicFrame>
    </p:spTree>
    <p:extLst>
      <p:ext uri="{BB962C8B-B14F-4D97-AF65-F5344CB8AC3E}">
        <p14:creationId xmlns:p14="http://schemas.microsoft.com/office/powerpoint/2010/main" val="3873097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FABBC-DD82-9248-769F-5BE75963FEC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F7785F-F70B-B672-73E2-B2FCCDADC4F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10000" y="4876800"/>
            <a:ext cx="7772400" cy="2831245"/>
          </a:xfrm>
          <a:prstGeom prst="rect">
            <a:avLst/>
          </a:prstGeom>
        </p:spPr>
      </p:pic>
      <p:sp>
        <p:nvSpPr>
          <p:cNvPr id="2" name="Title 1">
            <a:extLst>
              <a:ext uri="{FF2B5EF4-FFF2-40B4-BE49-F238E27FC236}">
                <a16:creationId xmlns:a16="http://schemas.microsoft.com/office/drawing/2014/main" id="{20DA35E8-56C8-D571-22D1-49530D5B3AB8}"/>
              </a:ext>
            </a:extLst>
          </p:cNvPr>
          <p:cNvSpPr>
            <a:spLocks noGrp="1"/>
          </p:cNvSpPr>
          <p:nvPr>
            <p:ph type="title"/>
          </p:nvPr>
        </p:nvSpPr>
        <p:spPr/>
        <p:txBody>
          <a:bodyPr/>
          <a:lstStyle/>
          <a:p>
            <a:pPr algn="ctr"/>
            <a:r>
              <a:rPr lang="en-US" sz="3200" b="1" dirty="0"/>
              <a:t>Hybrid Approach: Immediate Action with Cryptographic Inventory Development</a:t>
            </a:r>
            <a:endParaRPr lang="en-EG" sz="3200" b="1" dirty="0"/>
          </a:p>
        </p:txBody>
      </p:sp>
      <p:sp>
        <p:nvSpPr>
          <p:cNvPr id="3" name="Content Placeholder 2">
            <a:extLst>
              <a:ext uri="{FF2B5EF4-FFF2-40B4-BE49-F238E27FC236}">
                <a16:creationId xmlns:a16="http://schemas.microsoft.com/office/drawing/2014/main" id="{C9BDF266-3815-BAA8-BDB4-CFFB08819ABA}"/>
              </a:ext>
            </a:extLst>
          </p:cNvPr>
          <p:cNvSpPr>
            <a:spLocks noGrp="1"/>
          </p:cNvSpPr>
          <p:nvPr>
            <p:ph idx="4294967295"/>
          </p:nvPr>
        </p:nvSpPr>
        <p:spPr>
          <a:xfrm>
            <a:off x="1066800" y="1281035"/>
            <a:ext cx="13106400" cy="5257800"/>
          </a:xfrm>
        </p:spPr>
        <p:txBody>
          <a:bodyPr/>
          <a:lstStyle/>
          <a:p>
            <a:pPr marL="514350" indent="-514350">
              <a:buFont typeface="+mj-lt"/>
              <a:buAutoNum type="arabicPeriod"/>
            </a:pPr>
            <a:r>
              <a:rPr lang="en-US" sz="2800" dirty="0"/>
              <a:t>A hybrid strategy that initiates immediate remediation on critical systems.</a:t>
            </a:r>
          </a:p>
          <a:p>
            <a:pPr marL="514350" indent="-514350">
              <a:buFont typeface="+mj-lt"/>
              <a:buAutoNum type="arabicPeriod"/>
            </a:pPr>
            <a:r>
              <a:rPr lang="en-US" sz="2800" dirty="0"/>
              <a:t>Simultaneously, building a comprehensive cryptographic inventory.</a:t>
            </a:r>
          </a:p>
          <a:p>
            <a:pPr marL="514350" indent="-514350">
              <a:buFont typeface="+mj-lt"/>
              <a:buAutoNum type="arabicPeriod"/>
            </a:pPr>
            <a:r>
              <a:rPr lang="en-US" sz="2800" dirty="0"/>
              <a:t>The most effective path forward, as it:</a:t>
            </a:r>
          </a:p>
          <a:p>
            <a:pPr marL="914400" lvl="2" indent="-457200">
              <a:buFont typeface="Wingdings" pitchFamily="2" charset="2"/>
              <a:buChar char="Ø"/>
            </a:pPr>
            <a:r>
              <a:rPr lang="en-US" sz="2800" dirty="0"/>
              <a:t>Addresses the need for quick action</a:t>
            </a:r>
          </a:p>
          <a:p>
            <a:pPr marL="914400" lvl="2" indent="-457200">
              <a:buFont typeface="Wingdings" pitchFamily="2" charset="2"/>
              <a:buChar char="Ø"/>
            </a:pPr>
            <a:r>
              <a:rPr lang="en-US" sz="2800" dirty="0"/>
              <a:t>Keep focus on long-term security vision</a:t>
            </a:r>
          </a:p>
          <a:p>
            <a:pPr marL="914400" lvl="2" indent="-457200">
              <a:buFont typeface="Wingdings" pitchFamily="2" charset="2"/>
              <a:buChar char="Ø"/>
            </a:pPr>
            <a:r>
              <a:rPr lang="en-US" sz="2800" dirty="0"/>
              <a:t>Allows organizations to demonstrate progress, meet regulatory obligations, and establish a solid foundation for PQC.</a:t>
            </a:r>
            <a:endParaRPr lang="en-EG" sz="2800" dirty="0"/>
          </a:p>
        </p:txBody>
      </p:sp>
    </p:spTree>
    <p:extLst>
      <p:ext uri="{BB962C8B-B14F-4D97-AF65-F5344CB8AC3E}">
        <p14:creationId xmlns:p14="http://schemas.microsoft.com/office/powerpoint/2010/main" val="3085263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2D47F-9694-36DE-5001-1371A174C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57A53-5D30-BDD1-A834-34ECAFE0C85C}"/>
              </a:ext>
            </a:extLst>
          </p:cNvPr>
          <p:cNvSpPr>
            <a:spLocks noGrp="1"/>
          </p:cNvSpPr>
          <p:nvPr>
            <p:ph type="title"/>
          </p:nvPr>
        </p:nvSpPr>
        <p:spPr>
          <a:xfrm>
            <a:off x="457200" y="685801"/>
            <a:ext cx="13716000" cy="1143000"/>
          </a:xfrm>
        </p:spPr>
        <p:txBody>
          <a:bodyPr anchor="t">
            <a:normAutofit/>
          </a:bodyPr>
          <a:lstStyle/>
          <a:p>
            <a:r>
              <a:rPr lang="en-US" b="1"/>
              <a:t>Hybrid PQC Migration &amp; Cryptographic Agility</a:t>
            </a:r>
            <a:endParaRPr lang="en-EG" b="1"/>
          </a:p>
        </p:txBody>
      </p:sp>
      <p:sp>
        <p:nvSpPr>
          <p:cNvPr id="3" name="Content Placeholder 2">
            <a:extLst>
              <a:ext uri="{FF2B5EF4-FFF2-40B4-BE49-F238E27FC236}">
                <a16:creationId xmlns:a16="http://schemas.microsoft.com/office/drawing/2014/main" id="{55E2FC09-2BE9-0909-9752-B543E6630139}"/>
              </a:ext>
            </a:extLst>
          </p:cNvPr>
          <p:cNvSpPr>
            <a:spLocks noGrp="1"/>
          </p:cNvSpPr>
          <p:nvPr>
            <p:ph idx="4294967295"/>
          </p:nvPr>
        </p:nvSpPr>
        <p:spPr>
          <a:xfrm>
            <a:off x="457200" y="1600200"/>
            <a:ext cx="6583680" cy="5715001"/>
          </a:xfrm>
        </p:spPr>
        <p:txBody>
          <a:bodyPr anchor="t">
            <a:normAutofit/>
          </a:bodyPr>
          <a:lstStyle/>
          <a:p>
            <a:pPr algn="just">
              <a:lnSpc>
                <a:spcPct val="95000"/>
              </a:lnSpc>
            </a:pPr>
            <a:r>
              <a:rPr lang="en-US" sz="1800" b="1" dirty="0"/>
              <a:t>Cryptographic Agility</a:t>
            </a:r>
            <a:r>
              <a:rPr lang="en-US" sz="1600" b="1" dirty="0"/>
              <a:t>:</a:t>
            </a:r>
            <a:r>
              <a:rPr lang="en-US" sz="1600" dirty="0"/>
              <a:t> The ability to swiftly change cryptographic algorithms in applications and infrastructure as threats evolve or new standards emerge. This ensures future-proofing against "Harvest Now, Decrypt Later" (HNDL) attacks.</a:t>
            </a:r>
          </a:p>
          <a:p>
            <a:pPr algn="just">
              <a:lnSpc>
                <a:spcPct val="95000"/>
              </a:lnSpc>
            </a:pPr>
            <a:r>
              <a:rPr lang="en-US" sz="1800" b="1" dirty="0"/>
              <a:t>Hybrid Migration</a:t>
            </a:r>
            <a:r>
              <a:rPr lang="en-US" sz="1600" b="1" dirty="0"/>
              <a:t>:</a:t>
            </a:r>
            <a:r>
              <a:rPr lang="en-US" sz="1600" dirty="0"/>
              <a:t> An intermediate step combining a classical algorithm (like RSA or ECC) with a post-quantum algorithm (like ML-KEM). This provides redundancy; if one algorithm is compromised, the other maintains security.</a:t>
            </a:r>
          </a:p>
          <a:p>
            <a:pPr algn="just">
              <a:lnSpc>
                <a:spcPct val="95000"/>
              </a:lnSpc>
            </a:pPr>
            <a:br>
              <a:rPr lang="en-US" sz="1600" dirty="0"/>
            </a:br>
            <a:endParaRPr lang="en-US" sz="1600" dirty="0"/>
          </a:p>
          <a:p>
            <a:pPr algn="just">
              <a:lnSpc>
                <a:spcPct val="95000"/>
              </a:lnSpc>
            </a:pPr>
            <a:r>
              <a:rPr lang="en-US" sz="1800" b="1" dirty="0"/>
              <a:t>Architectural Patterns for Migration</a:t>
            </a:r>
          </a:p>
          <a:p>
            <a:pPr marL="285750" indent="-285750" algn="just">
              <a:lnSpc>
                <a:spcPct val="95000"/>
              </a:lnSpc>
              <a:buFont typeface="Arial" panose="020B0604020202020204" pitchFamily="34" charset="0"/>
              <a:buChar char="•"/>
            </a:pPr>
            <a:r>
              <a:rPr lang="en-US" sz="1600" b="1" dirty="0"/>
              <a:t>Proxy Pattern:</a:t>
            </a:r>
            <a:r>
              <a:rPr lang="en-US" sz="1600" dirty="0"/>
              <a:t> Overlaying an agile security layer on existing components to future-proof legacy systems without requiring a full hardware overhaul.</a:t>
            </a:r>
          </a:p>
          <a:p>
            <a:pPr marL="285750" indent="-285750" algn="just">
              <a:lnSpc>
                <a:spcPct val="95000"/>
              </a:lnSpc>
              <a:buFont typeface="Arial" panose="020B0604020202020204" pitchFamily="34" charset="0"/>
              <a:buChar char="•"/>
            </a:pPr>
            <a:r>
              <a:rPr lang="en-US" sz="1600" b="1" dirty="0"/>
              <a:t>Upgrade Pattern:</a:t>
            </a:r>
            <a:r>
              <a:rPr lang="en-US" sz="1600" dirty="0"/>
              <a:t> Replacing components with versions that natively support NIST-standardized PQC algorithms like </a:t>
            </a:r>
            <a:r>
              <a:rPr lang="en-US" sz="1600" b="1" dirty="0"/>
              <a:t>ML-KEM (FIPS 203)</a:t>
            </a:r>
            <a:r>
              <a:rPr lang="en-US" sz="1600" dirty="0"/>
              <a:t> and </a:t>
            </a:r>
            <a:r>
              <a:rPr lang="en-US" sz="1600" b="1" dirty="0"/>
              <a:t>ML-DSA (FIPS 204)</a:t>
            </a:r>
            <a:r>
              <a:rPr lang="en-US" sz="1600" dirty="0"/>
              <a:t>.</a:t>
            </a:r>
          </a:p>
          <a:p>
            <a:pPr marL="285750" indent="-285750" algn="just">
              <a:lnSpc>
                <a:spcPct val="95000"/>
              </a:lnSpc>
              <a:buFont typeface="Arial" panose="020B0604020202020204" pitchFamily="34" charset="0"/>
              <a:buChar char="•"/>
            </a:pPr>
            <a:r>
              <a:rPr lang="en-US" sz="1600" b="1" dirty="0"/>
              <a:t>QKD Pattern:</a:t>
            </a:r>
            <a:r>
              <a:rPr lang="en-US" sz="1600" dirty="0"/>
              <a:t> Utilizing Quantum Key Distribution for short-distance key exchanges that do not rely on mathematical algorithms.</a:t>
            </a:r>
          </a:p>
          <a:p>
            <a:pPr marL="514350" indent="-514350" algn="just">
              <a:lnSpc>
                <a:spcPct val="95000"/>
              </a:lnSpc>
              <a:buFont typeface="+mj-lt"/>
              <a:buAutoNum type="arabicPeriod"/>
            </a:pPr>
            <a:endParaRPr lang="en-EG" sz="1600" dirty="0"/>
          </a:p>
        </p:txBody>
      </p:sp>
      <p:pic>
        <p:nvPicPr>
          <p:cNvPr id="5" name="Picture 4" descr="A diagram of a cloud computing network&#10;&#10;AI-generated content may be incorrect.">
            <a:extLst>
              <a:ext uri="{FF2B5EF4-FFF2-40B4-BE49-F238E27FC236}">
                <a16:creationId xmlns:a16="http://schemas.microsoft.com/office/drawing/2014/main" id="{545A6B68-038A-486C-0921-DEC23046CC48}"/>
              </a:ext>
            </a:extLst>
          </p:cNvPr>
          <p:cNvPicPr>
            <a:picLocks noChangeAspect="1"/>
          </p:cNvPicPr>
          <p:nvPr/>
        </p:nvPicPr>
        <p:blipFill>
          <a:blip r:embed="rId2"/>
          <a:stretch>
            <a:fillRect/>
          </a:stretch>
        </p:blipFill>
        <p:spPr>
          <a:xfrm>
            <a:off x="7315200" y="1905000"/>
            <a:ext cx="6705600" cy="5029200"/>
          </a:xfrm>
          <a:prstGeom prst="rect">
            <a:avLst/>
          </a:prstGeom>
          <a:noFill/>
          <a:ln>
            <a:solidFill>
              <a:schemeClr val="accent1"/>
            </a:solidFill>
          </a:ln>
        </p:spPr>
      </p:pic>
    </p:spTree>
    <p:extLst>
      <p:ext uri="{BB962C8B-B14F-4D97-AF65-F5344CB8AC3E}">
        <p14:creationId xmlns:p14="http://schemas.microsoft.com/office/powerpoint/2010/main" val="2103599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11DFC-A26C-4EE5-D34D-FE4B3A3A0C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638DC1-6769-D6D1-C526-DE301D77D722}"/>
              </a:ext>
            </a:extLst>
          </p:cNvPr>
          <p:cNvSpPr>
            <a:spLocks noGrp="1"/>
          </p:cNvSpPr>
          <p:nvPr>
            <p:ph type="title"/>
          </p:nvPr>
        </p:nvSpPr>
        <p:spPr>
          <a:xfrm>
            <a:off x="304800" y="330270"/>
            <a:ext cx="14020800" cy="533400"/>
          </a:xfrm>
        </p:spPr>
        <p:txBody>
          <a:bodyPr>
            <a:noAutofit/>
          </a:bodyPr>
          <a:lstStyle/>
          <a:p>
            <a:pPr algn="ctr"/>
            <a:r>
              <a:rPr lang="en-US" sz="4000" b="1" dirty="0">
                <a:latin typeface="Calibri" panose="020F0502020204030204" pitchFamily="34" charset="0"/>
                <a:cs typeface="Calibri" panose="020F0502020204030204" pitchFamily="34" charset="0"/>
              </a:rPr>
              <a:t>Quantum Risk Assessment</a:t>
            </a:r>
            <a:br>
              <a:rPr lang="en-US" sz="3840" b="1" dirty="0">
                <a:solidFill>
                  <a:schemeClr val="bg1"/>
                </a:solidFill>
              </a:rPr>
            </a:br>
            <a:r>
              <a:rPr lang="en-US" sz="3200" b="1" dirty="0">
                <a:solidFill>
                  <a:schemeClr val="bg1"/>
                </a:solidFill>
              </a:rPr>
              <a:t>Quantum Resilience Strategy Framework Scope Summary</a:t>
            </a:r>
            <a:endParaRPr lang="en-US" sz="4480" dirty="0">
              <a:solidFill>
                <a:schemeClr val="bg1"/>
              </a:solidFill>
            </a:endParaRPr>
          </a:p>
        </p:txBody>
      </p:sp>
      <p:sp>
        <p:nvSpPr>
          <p:cNvPr id="3" name="TextBox 2">
            <a:extLst>
              <a:ext uri="{FF2B5EF4-FFF2-40B4-BE49-F238E27FC236}">
                <a16:creationId xmlns:a16="http://schemas.microsoft.com/office/drawing/2014/main" id="{B6AA1E8B-ADBD-5985-61B7-07B32AC9F30C}"/>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560" dirty="0" err="1">
              <a:solidFill>
                <a:srgbClr val="051243"/>
              </a:solidFill>
              <a:latin typeface="Calibri" panose="020F0502020204030204" pitchFamily="34" charset="0"/>
              <a:ea typeface="IBM Plex Sans" charset="0"/>
              <a:cs typeface="Calibri" panose="020F0502020204030204" pitchFamily="34" charset="0"/>
            </a:endParaRPr>
          </a:p>
        </p:txBody>
      </p:sp>
      <p:sp>
        <p:nvSpPr>
          <p:cNvPr id="9" name="TextBox 8">
            <a:extLst>
              <a:ext uri="{FF2B5EF4-FFF2-40B4-BE49-F238E27FC236}">
                <a16:creationId xmlns:a16="http://schemas.microsoft.com/office/drawing/2014/main" id="{276FF64F-1085-C47B-FB01-C27718C7F313}"/>
              </a:ext>
            </a:extLst>
          </p:cNvPr>
          <p:cNvSpPr txBox="1"/>
          <p:nvPr/>
        </p:nvSpPr>
        <p:spPr>
          <a:xfrm>
            <a:off x="609600" y="1295400"/>
            <a:ext cx="13411199" cy="6494085"/>
          </a:xfrm>
          <a:prstGeom prst="rect">
            <a:avLst/>
          </a:prstGeom>
          <a:noFill/>
        </p:spPr>
        <p:txBody>
          <a:bodyPr wrap="square">
            <a:spAutoFit/>
          </a:bodyPr>
          <a:lstStyle/>
          <a:p>
            <a:pPr algn="l">
              <a:spcAft>
                <a:spcPts val="300"/>
              </a:spcAft>
            </a:pPr>
            <a:r>
              <a:rPr lang="en-US" sz="2800" b="1" i="0" dirty="0">
                <a:solidFill>
                  <a:srgbClr val="404040"/>
                </a:solidFill>
                <a:effectLst/>
                <a:latin typeface="Inter"/>
              </a:rPr>
              <a:t>Preparation</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Build knowledge of PQC algorithms (e.g., CRYSTALS-Kyber, </a:t>
            </a:r>
            <a:r>
              <a:rPr lang="en-US" sz="2400" b="0" i="0" dirty="0" err="1">
                <a:solidFill>
                  <a:srgbClr val="404040"/>
                </a:solidFill>
                <a:effectLst/>
                <a:latin typeface="Inter"/>
              </a:rPr>
              <a:t>Dilithium</a:t>
            </a:r>
            <a:r>
              <a:rPr lang="en-US" sz="2400" b="0" i="0" dirty="0">
                <a:solidFill>
                  <a:srgbClr val="404040"/>
                </a:solidFill>
                <a:effectLst/>
                <a:latin typeface="Inter"/>
              </a:rPr>
              <a:t>, …etc.).</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Inventory systems, protocols, and data sensitivity (e.g., TLS, VPNs, databases).</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Prioritize risks using confidentiality lifespan and quantum exposure (e.g., Shor’s algorithm impact).</a:t>
            </a:r>
            <a:endParaRPr lang="en-US" sz="2400" b="1" i="0" dirty="0">
              <a:solidFill>
                <a:srgbClr val="404040"/>
              </a:solidFill>
              <a:effectLst/>
              <a:latin typeface="Inter"/>
            </a:endParaRPr>
          </a:p>
          <a:p>
            <a:pPr algn="l">
              <a:spcBef>
                <a:spcPts val="300"/>
              </a:spcBef>
              <a:spcAft>
                <a:spcPts val="300"/>
              </a:spcAft>
            </a:pPr>
            <a:r>
              <a:rPr lang="en-US" sz="2800" b="1" i="0" dirty="0">
                <a:solidFill>
                  <a:srgbClr val="404040"/>
                </a:solidFill>
                <a:effectLst/>
                <a:latin typeface="Inter"/>
              </a:rPr>
              <a:t>Implementation</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Vulnerability testing (penetration tests, code reviews).</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Crypto health checks, PKI readiness, and stakeholder communication.</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Develop master plan and budget (phased migration, vendor collaboration).</a:t>
            </a:r>
            <a:endParaRPr lang="en-US" sz="2800" b="1" i="0" dirty="0">
              <a:solidFill>
                <a:srgbClr val="404040"/>
              </a:solidFill>
              <a:effectLst/>
              <a:latin typeface="Inter"/>
            </a:endParaRPr>
          </a:p>
          <a:p>
            <a:pPr algn="l">
              <a:spcBef>
                <a:spcPts val="300"/>
              </a:spcBef>
              <a:spcAft>
                <a:spcPts val="300"/>
              </a:spcAft>
            </a:pPr>
            <a:r>
              <a:rPr lang="en-US" sz="2800" b="1" i="0" dirty="0">
                <a:solidFill>
                  <a:srgbClr val="404040"/>
                </a:solidFill>
                <a:effectLst/>
                <a:latin typeface="Inter"/>
              </a:rPr>
              <a:t>Remediation</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Deploy PQC upgrades, hybrid solutions, QKD, and Zero Trust.</a:t>
            </a: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Modernize legacy systems and update key management.</a:t>
            </a:r>
            <a:endParaRPr lang="en-US" sz="2800" b="1" i="0" dirty="0">
              <a:solidFill>
                <a:srgbClr val="404040"/>
              </a:solidFill>
              <a:effectLst/>
              <a:latin typeface="Inter"/>
            </a:endParaRPr>
          </a:p>
          <a:p>
            <a:pPr algn="l">
              <a:spcBef>
                <a:spcPts val="300"/>
              </a:spcBef>
              <a:spcAft>
                <a:spcPts val="300"/>
              </a:spcAft>
            </a:pPr>
            <a:r>
              <a:rPr lang="en-US" sz="2800" b="1" i="0" dirty="0">
                <a:solidFill>
                  <a:srgbClr val="404040"/>
                </a:solidFill>
                <a:effectLst/>
                <a:latin typeface="Inter"/>
              </a:rPr>
              <a:t>Ongoing Monitoring</a:t>
            </a:r>
            <a:endParaRPr lang="en-US" sz="2400" b="0" i="0" dirty="0">
              <a:solidFill>
                <a:srgbClr val="404040"/>
              </a:solidFill>
              <a:effectLst/>
              <a:latin typeface="Inter"/>
            </a:endParaRPr>
          </a:p>
          <a:p>
            <a:pPr marL="742950" lvl="1" indent="-285750" algn="l">
              <a:spcBef>
                <a:spcPts val="300"/>
              </a:spcBef>
              <a:buFont typeface="Arial" panose="020B0604020202020204" pitchFamily="34" charset="0"/>
              <a:buChar char="•"/>
            </a:pPr>
            <a:r>
              <a:rPr lang="en-US" sz="2400" b="0" i="0" dirty="0">
                <a:solidFill>
                  <a:srgbClr val="404040"/>
                </a:solidFill>
                <a:effectLst/>
                <a:latin typeface="Inter"/>
              </a:rPr>
              <a:t>Track evolving quantum threats and NIST standards, and annual policy reviews and performance audits.</a:t>
            </a:r>
          </a:p>
          <a:p>
            <a:pPr defTabSz="731520"/>
            <a:endParaRPr lang="en-EG" sz="2400" dirty="0">
              <a:solidFill>
                <a:srgbClr val="051243"/>
              </a:solidFill>
              <a:latin typeface="Arial"/>
            </a:endParaRPr>
          </a:p>
        </p:txBody>
      </p:sp>
    </p:spTree>
    <p:extLst>
      <p:ext uri="{BB962C8B-B14F-4D97-AF65-F5344CB8AC3E}">
        <p14:creationId xmlns:p14="http://schemas.microsoft.com/office/powerpoint/2010/main" val="71118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D9573-5681-FE38-988B-E577B992C2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8193EAA-8328-3BE5-ED61-0ED8330DEDC4}"/>
              </a:ext>
            </a:extLst>
          </p:cNvPr>
          <p:cNvSpPr>
            <a:spLocks noGrp="1"/>
          </p:cNvSpPr>
          <p:nvPr>
            <p:ph type="title"/>
          </p:nvPr>
        </p:nvSpPr>
        <p:spPr>
          <a:xfrm>
            <a:off x="304800" y="330270"/>
            <a:ext cx="14020800" cy="533400"/>
          </a:xfrm>
        </p:spPr>
        <p:txBody>
          <a:bodyPr>
            <a:noAutofit/>
          </a:bodyPr>
          <a:lstStyle/>
          <a:p>
            <a:pPr algn="ctr"/>
            <a:r>
              <a:rPr lang="en-US" sz="4000" b="1" dirty="0">
                <a:latin typeface="Calibri" panose="020F0502020204030204" pitchFamily="34" charset="0"/>
                <a:cs typeface="Calibri" panose="020F0502020204030204" pitchFamily="34" charset="0"/>
              </a:rPr>
              <a:t>Quantum Risk Assessment</a:t>
            </a:r>
            <a:br>
              <a:rPr lang="en-US" sz="3840" b="1" dirty="0">
                <a:solidFill>
                  <a:schemeClr val="bg1"/>
                </a:solidFill>
              </a:rPr>
            </a:br>
            <a:r>
              <a:rPr lang="en-US" sz="3200" b="1" dirty="0">
                <a:solidFill>
                  <a:schemeClr val="bg1"/>
                </a:solidFill>
              </a:rPr>
              <a:t>Quantum Resilience Program Outputs/Deliverables </a:t>
            </a:r>
            <a:endParaRPr lang="en-US" sz="4480" dirty="0">
              <a:solidFill>
                <a:schemeClr val="bg1"/>
              </a:solidFill>
            </a:endParaRPr>
          </a:p>
        </p:txBody>
      </p:sp>
      <p:sp>
        <p:nvSpPr>
          <p:cNvPr id="3" name="TextBox 2">
            <a:extLst>
              <a:ext uri="{FF2B5EF4-FFF2-40B4-BE49-F238E27FC236}">
                <a16:creationId xmlns:a16="http://schemas.microsoft.com/office/drawing/2014/main" id="{8E9E83BC-5A51-8143-CD83-4FE743A70B31}"/>
              </a:ext>
            </a:extLst>
          </p:cNvPr>
          <p:cNvSpPr txBox="1"/>
          <p:nvPr/>
        </p:nvSpPr>
        <p:spPr>
          <a:xfrm>
            <a:off x="5092262" y="7709338"/>
            <a:ext cx="0" cy="0"/>
          </a:xfrm>
          <a:prstGeom prst="rect">
            <a:avLst/>
          </a:prstGeom>
        </p:spPr>
        <p:txBody>
          <a:bodyPr wrap="none" lIns="91440" tIns="45720" rIns="91440" bIns="45720" rtlCol="0">
            <a:noAutofit/>
          </a:bodyPr>
          <a:lstStyle/>
          <a:p>
            <a:pPr defTabSz="731520">
              <a:lnSpc>
                <a:spcPct val="105000"/>
              </a:lnSpc>
              <a:spcBef>
                <a:spcPts val="1000"/>
              </a:spcBef>
            </a:pPr>
            <a:endParaRPr lang="en-US" sz="2560" dirty="0" err="1">
              <a:solidFill>
                <a:srgbClr val="051243"/>
              </a:solidFill>
              <a:latin typeface="Calibri" panose="020F0502020204030204" pitchFamily="34" charset="0"/>
              <a:ea typeface="IBM Plex Sans" charset="0"/>
              <a:cs typeface="Calibri" panose="020F0502020204030204" pitchFamily="34" charset="0"/>
            </a:endParaRPr>
          </a:p>
        </p:txBody>
      </p:sp>
      <p:sp>
        <p:nvSpPr>
          <p:cNvPr id="9" name="TextBox 8">
            <a:extLst>
              <a:ext uri="{FF2B5EF4-FFF2-40B4-BE49-F238E27FC236}">
                <a16:creationId xmlns:a16="http://schemas.microsoft.com/office/drawing/2014/main" id="{AD5E8D70-A2DF-909A-967A-6F6CECDC8898}"/>
              </a:ext>
            </a:extLst>
          </p:cNvPr>
          <p:cNvSpPr txBox="1"/>
          <p:nvPr/>
        </p:nvSpPr>
        <p:spPr>
          <a:xfrm>
            <a:off x="609600" y="1708386"/>
            <a:ext cx="13563600" cy="7625164"/>
          </a:xfrm>
          <a:prstGeom prst="rect">
            <a:avLst/>
          </a:prstGeom>
          <a:noFill/>
        </p:spPr>
        <p:txBody>
          <a:bodyPr wrap="square">
            <a:spAutoFit/>
          </a:bodyPr>
          <a:lstStyle/>
          <a:p>
            <a:pPr marL="457200" indent="-457200" algn="l">
              <a:spcAft>
                <a:spcPts val="300"/>
              </a:spcAft>
              <a:buFont typeface="+mj-lt"/>
              <a:buAutoNum type="arabicPeriod"/>
            </a:pPr>
            <a:r>
              <a:rPr lang="en-US" sz="2400" b="1" i="0" dirty="0">
                <a:solidFill>
                  <a:srgbClr val="404040"/>
                </a:solidFill>
                <a:effectLst/>
                <a:latin typeface="Inter"/>
              </a:rPr>
              <a:t>Risk Assessment Matrix</a:t>
            </a:r>
            <a:r>
              <a:rPr lang="en-US" sz="2400" b="0" i="0" dirty="0">
                <a:solidFill>
                  <a:srgbClr val="404040"/>
                </a:solidFill>
                <a:effectLst/>
                <a:latin typeface="Inter"/>
              </a:rPr>
              <a:t>: Prioritized list of systems vulnerable to quantum attacks (e.g., RSA-2048).</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Crypto Inventory Report</a:t>
            </a:r>
            <a:r>
              <a:rPr lang="en-US" sz="2400" b="0" i="0" dirty="0">
                <a:solidFill>
                  <a:srgbClr val="404040"/>
                </a:solidFill>
                <a:effectLst/>
                <a:latin typeface="Inter"/>
              </a:rPr>
              <a:t>: Detailed registry of cryptographic assets (algorithms, key sizes, protocols).</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Master Plan Roadmap</a:t>
            </a:r>
            <a:r>
              <a:rPr lang="en-US" sz="2400" b="0" i="0" dirty="0">
                <a:solidFill>
                  <a:srgbClr val="404040"/>
                </a:solidFill>
                <a:effectLst/>
                <a:latin typeface="Inter"/>
              </a:rPr>
              <a:t>: Phased migration timeline (critical systems first) with milestones and vendors.</a:t>
            </a:r>
          </a:p>
          <a:p>
            <a:pPr marL="457200" indent="-457200" algn="l">
              <a:spcAft>
                <a:spcPts val="300"/>
              </a:spcAft>
              <a:buFont typeface="+mj-lt"/>
              <a:buAutoNum type="arabicPeriod"/>
            </a:pPr>
            <a:r>
              <a:rPr lang="en-US" sz="2400" b="1" i="0" dirty="0">
                <a:solidFill>
                  <a:srgbClr val="404040"/>
                </a:solidFill>
                <a:effectLst/>
                <a:latin typeface="Inter"/>
              </a:rPr>
              <a:t>PQC Implementation Guidelines</a:t>
            </a:r>
            <a:r>
              <a:rPr lang="en-US" sz="2400" b="0" i="0" dirty="0">
                <a:solidFill>
                  <a:srgbClr val="404040"/>
                </a:solidFill>
                <a:effectLst/>
                <a:latin typeface="Inter"/>
              </a:rPr>
              <a:t>: Documentation for upgrading to quantum-safe algorithms (e.g., CRYSTALS-</a:t>
            </a:r>
            <a:r>
              <a:rPr lang="en-US" sz="2400" b="0" i="0" dirty="0" err="1">
                <a:solidFill>
                  <a:srgbClr val="404040"/>
                </a:solidFill>
                <a:effectLst/>
                <a:latin typeface="Inter"/>
              </a:rPr>
              <a:t>Kyber</a:t>
            </a:r>
            <a:r>
              <a:rPr lang="en-US" sz="2400" b="0" i="0" dirty="0">
                <a:solidFill>
                  <a:srgbClr val="404040"/>
                </a:solidFill>
                <a:effectLst/>
                <a:latin typeface="Inter"/>
              </a:rPr>
              <a:t> for TLS).</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Hybrid Deployment Framework</a:t>
            </a:r>
            <a:r>
              <a:rPr lang="en-US" sz="2400" b="0" i="0" dirty="0">
                <a:solidFill>
                  <a:srgbClr val="404040"/>
                </a:solidFill>
                <a:effectLst/>
                <a:latin typeface="Inter"/>
              </a:rPr>
              <a:t>: Architecture for integrating classical + PQC during transition.</a:t>
            </a:r>
          </a:p>
          <a:p>
            <a:pPr marL="457200" indent="-457200" algn="l">
              <a:spcAft>
                <a:spcPts val="300"/>
              </a:spcAft>
              <a:buFont typeface="+mj-lt"/>
              <a:buAutoNum type="arabicPeriod"/>
            </a:pPr>
            <a:r>
              <a:rPr lang="en-US" sz="2400" b="1" i="0" dirty="0">
                <a:solidFill>
                  <a:srgbClr val="404040"/>
                </a:solidFill>
                <a:effectLst/>
                <a:latin typeface="Inter"/>
              </a:rPr>
              <a:t>Budget  Draft</a:t>
            </a:r>
            <a:r>
              <a:rPr lang="en-US" sz="2400" b="0" i="0" dirty="0">
                <a:solidFill>
                  <a:srgbClr val="404040"/>
                </a:solidFill>
                <a:effectLst/>
                <a:latin typeface="Inter"/>
              </a:rPr>
              <a:t>: Cost analysis for PQC migration (software, hardware, training, downtime).</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Training Modules</a:t>
            </a:r>
            <a:r>
              <a:rPr lang="en-US" sz="2400" b="0" i="0" dirty="0">
                <a:solidFill>
                  <a:srgbClr val="404040"/>
                </a:solidFill>
                <a:effectLst/>
                <a:latin typeface="Inter"/>
              </a:rPr>
              <a:t>: Workshops for IT/security teams on PQC management and compliance.</a:t>
            </a:r>
          </a:p>
          <a:p>
            <a:pPr marL="457200" indent="-457200" algn="l">
              <a:spcBef>
                <a:spcPts val="300"/>
              </a:spcBef>
              <a:spcAft>
                <a:spcPts val="300"/>
              </a:spcAft>
              <a:buFont typeface="+mj-lt"/>
              <a:buAutoNum type="arabicPeriod"/>
            </a:pPr>
            <a:r>
              <a:rPr lang="en-US" sz="2400" b="1" i="0" dirty="0">
                <a:solidFill>
                  <a:srgbClr val="404040"/>
                </a:solidFill>
                <a:effectLst/>
                <a:latin typeface="Inter"/>
              </a:rPr>
              <a:t>Updated Policies</a:t>
            </a:r>
            <a:r>
              <a:rPr lang="en-US" sz="2400" b="0" i="0" dirty="0">
                <a:solidFill>
                  <a:srgbClr val="404040"/>
                </a:solidFill>
                <a:effectLst/>
                <a:latin typeface="Inter"/>
              </a:rPr>
              <a:t>: Revised cryptographic and key management policies aligned with NIST standards.</a:t>
            </a:r>
          </a:p>
          <a:p>
            <a:pPr marL="457200" indent="-457200" algn="l">
              <a:spcBef>
                <a:spcPts val="300"/>
              </a:spcBef>
              <a:spcAft>
                <a:spcPts val="300"/>
              </a:spcAft>
              <a:buFont typeface="+mj-lt"/>
              <a:buAutoNum type="arabicPeriod"/>
            </a:pPr>
            <a:endParaRPr lang="en-US" sz="2400" dirty="0">
              <a:solidFill>
                <a:srgbClr val="404040"/>
              </a:solidFill>
              <a:latin typeface="Inter"/>
            </a:endParaRPr>
          </a:p>
          <a:p>
            <a:pPr algn="l"/>
            <a:r>
              <a:rPr lang="en-US" sz="2400" b="1" i="0" dirty="0">
                <a:solidFill>
                  <a:srgbClr val="404040"/>
                </a:solidFill>
                <a:effectLst/>
                <a:latin typeface="Inter"/>
              </a:rPr>
              <a:t>Timeline</a:t>
            </a:r>
            <a:r>
              <a:rPr lang="en-US" sz="2400" b="0" i="0" dirty="0">
                <a:solidFill>
                  <a:srgbClr val="404040"/>
                </a:solidFill>
                <a:effectLst/>
                <a:latin typeface="Inter"/>
              </a:rPr>
              <a:t>:</a:t>
            </a:r>
          </a:p>
          <a:p>
            <a:pPr marL="342900" indent="-342900" algn="l">
              <a:buFont typeface="Arial" panose="020B0604020202020204" pitchFamily="34" charset="0"/>
              <a:buChar char="•"/>
            </a:pPr>
            <a:r>
              <a:rPr lang="en-US" sz="2400" b="1" i="1" dirty="0">
                <a:solidFill>
                  <a:srgbClr val="404040"/>
                </a:solidFill>
                <a:effectLst/>
                <a:latin typeface="Inter"/>
              </a:rPr>
              <a:t>Short-term</a:t>
            </a:r>
            <a:r>
              <a:rPr lang="en-US" sz="2400" b="0" i="0" dirty="0">
                <a:solidFill>
                  <a:srgbClr val="404040"/>
                </a:solidFill>
                <a:effectLst/>
                <a:latin typeface="Inter"/>
              </a:rPr>
              <a:t>: Inventory and risk assessment (1-3 months).</a:t>
            </a:r>
          </a:p>
          <a:p>
            <a:pPr marL="342900" indent="-342900" algn="l">
              <a:spcBef>
                <a:spcPts val="300"/>
              </a:spcBef>
              <a:buFont typeface="Arial" panose="020B0604020202020204" pitchFamily="34" charset="0"/>
              <a:buChar char="•"/>
            </a:pPr>
            <a:r>
              <a:rPr lang="en-US" sz="2400" b="1" i="1" dirty="0">
                <a:solidFill>
                  <a:srgbClr val="404040"/>
                </a:solidFill>
                <a:effectLst/>
                <a:latin typeface="Inter"/>
              </a:rPr>
              <a:t>Mid-term</a:t>
            </a:r>
            <a:r>
              <a:rPr lang="en-US" sz="2400" b="1" i="0" dirty="0">
                <a:solidFill>
                  <a:srgbClr val="404040"/>
                </a:solidFill>
                <a:effectLst/>
                <a:latin typeface="Inter"/>
              </a:rPr>
              <a:t>:</a:t>
            </a:r>
            <a:r>
              <a:rPr lang="en-US" sz="2400" b="0" i="0" dirty="0">
                <a:solidFill>
                  <a:srgbClr val="404040"/>
                </a:solidFill>
                <a:effectLst/>
                <a:latin typeface="Inter"/>
              </a:rPr>
              <a:t> Pilot migration and deployments (6 months).</a:t>
            </a:r>
          </a:p>
          <a:p>
            <a:pPr marL="342900" indent="-342900" algn="l">
              <a:spcBef>
                <a:spcPts val="300"/>
              </a:spcBef>
              <a:buFont typeface="Arial" panose="020B0604020202020204" pitchFamily="34" charset="0"/>
              <a:buChar char="•"/>
            </a:pPr>
            <a:r>
              <a:rPr lang="en-US" sz="2400" b="1" i="1" dirty="0">
                <a:solidFill>
                  <a:srgbClr val="404040"/>
                </a:solidFill>
                <a:effectLst/>
                <a:latin typeface="Inter"/>
              </a:rPr>
              <a:t>Long-term</a:t>
            </a:r>
            <a:r>
              <a:rPr lang="en-US" sz="2400" b="0" i="0" dirty="0">
                <a:solidFill>
                  <a:srgbClr val="404040"/>
                </a:solidFill>
                <a:effectLst/>
                <a:latin typeface="Inter"/>
              </a:rPr>
              <a:t>: Full migration (1–3 years).</a:t>
            </a:r>
          </a:p>
          <a:p>
            <a:pPr algn="l">
              <a:spcBef>
                <a:spcPts val="300"/>
              </a:spcBef>
              <a:spcAft>
                <a:spcPts val="300"/>
              </a:spcAft>
            </a:pPr>
            <a:endParaRPr lang="en-US" sz="2400" b="0" i="0" dirty="0">
              <a:solidFill>
                <a:srgbClr val="404040"/>
              </a:solidFill>
              <a:effectLst/>
              <a:latin typeface="Inter"/>
            </a:endParaRPr>
          </a:p>
          <a:p>
            <a:pPr algn="l">
              <a:spcBef>
                <a:spcPts val="300"/>
              </a:spcBef>
              <a:spcAft>
                <a:spcPts val="300"/>
              </a:spcAft>
            </a:pPr>
            <a:endParaRPr lang="en-US" sz="2400" dirty="0">
              <a:solidFill>
                <a:srgbClr val="404040"/>
              </a:solidFill>
              <a:latin typeface="Inter"/>
            </a:endParaRPr>
          </a:p>
          <a:p>
            <a:pPr algn="l">
              <a:spcBef>
                <a:spcPts val="300"/>
              </a:spcBef>
              <a:spcAft>
                <a:spcPts val="300"/>
              </a:spcAft>
            </a:pPr>
            <a:endParaRPr lang="en-US" sz="2400" b="0" i="0" dirty="0">
              <a:solidFill>
                <a:srgbClr val="404040"/>
              </a:solidFill>
              <a:effectLst/>
              <a:latin typeface="Inter"/>
            </a:endParaRPr>
          </a:p>
          <a:p>
            <a:pPr defTabSz="731520"/>
            <a:endParaRPr lang="en-EG" sz="2400" dirty="0">
              <a:solidFill>
                <a:srgbClr val="051243"/>
              </a:solidFill>
              <a:latin typeface="Arial"/>
            </a:endParaRPr>
          </a:p>
        </p:txBody>
      </p:sp>
    </p:spTree>
    <p:extLst>
      <p:ext uri="{BB962C8B-B14F-4D97-AF65-F5344CB8AC3E}">
        <p14:creationId xmlns:p14="http://schemas.microsoft.com/office/powerpoint/2010/main" val="3244826120"/>
      </p:ext>
    </p:extLst>
  </p:cSld>
  <p:clrMapOvr>
    <a:masterClrMapping/>
  </p:clrMapOvr>
</p:sld>
</file>

<file path=ppt/theme/theme1.xml><?xml version="1.0" encoding="utf-8"?>
<a:theme xmlns:a="http://schemas.openxmlformats.org/drawingml/2006/main" name="1_COVERS">
  <a:themeElements>
    <a:clrScheme name="IBM Services Palette Final">
      <a:dk1>
        <a:srgbClr val="000000"/>
      </a:dk1>
      <a:lt1>
        <a:srgbClr val="051243"/>
      </a:lt1>
      <a:dk2>
        <a:srgbClr val="F3F3F3"/>
      </a:dk2>
      <a:lt2>
        <a:srgbClr val="FFFFFF"/>
      </a:lt2>
      <a:accent1>
        <a:srgbClr val="6EA6FF"/>
      </a:accent1>
      <a:accent2>
        <a:srgbClr val="0F6DFF"/>
      </a:accent2>
      <a:accent3>
        <a:srgbClr val="0530AD"/>
      </a:accent3>
      <a:accent4>
        <a:srgbClr val="00BAB6"/>
      </a:accent4>
      <a:accent5>
        <a:srgbClr val="924CFC"/>
      </a:accent5>
      <a:accent6>
        <a:srgbClr val="D7306D"/>
      </a:accent6>
      <a:hlink>
        <a:srgbClr val="0F6DFF"/>
      </a:hlink>
      <a:folHlink>
        <a:srgbClr val="E0E0E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lstStyle>
        <a:defPPr algn="l">
          <a:defRPr sz="2000" dirty="0">
            <a:latin typeface="IBM Plex Sans" panose="020B0503050000000000"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wrap="square" lIns="91440" tIns="45720" rIns="91440" bIns="45720" rtlCol="0">
        <a:noAutofit/>
      </a:bodyPr>
      <a:lstStyle>
        <a:defPPr>
          <a:lnSpc>
            <a:spcPct val="105000"/>
          </a:lnSpc>
          <a:spcBef>
            <a:spcPts val="1000"/>
          </a:spcBef>
          <a:defRPr sz="2000" dirty="0" err="1" smtClean="0">
            <a:solidFill>
              <a:schemeClr val="tx1"/>
            </a:solidFill>
            <a:latin typeface="IBM Plex Sans" charset="0"/>
            <a:ea typeface="IBM Plex Sans" charset="0"/>
            <a:cs typeface="IBM Plex Sans" charset="0"/>
          </a:defRPr>
        </a:defPPr>
      </a:lstStyle>
    </a:txDef>
  </a:objectDefaults>
  <a:extraClrSchemeLst/>
  <a:extLst>
    <a:ext uri="{05A4C25C-085E-4340-85A3-A5531E510DB2}">
      <thm15:themeFamily xmlns:thm15="http://schemas.microsoft.com/office/thememl/2012/main" name="IBM Services Academy_Basic PPT_Plex_v5.8" id="{16CFD3B1-9246-A547-A47B-AD27F55F87D1}" vid="{750DE2A3-828F-3F4B-A26D-620EAA74ACB2}"/>
    </a:ext>
  </a:extLst>
</a:theme>
</file>

<file path=ppt/theme/theme2.xml><?xml version="1.0" encoding="utf-8"?>
<a:theme xmlns:a="http://schemas.openxmlformats.org/drawingml/2006/main" name="3_Light Background">
  <a:themeElements>
    <a:clrScheme name="IBM Services Palette Final">
      <a:dk1>
        <a:srgbClr val="000000"/>
      </a:dk1>
      <a:lt1>
        <a:srgbClr val="051243"/>
      </a:lt1>
      <a:dk2>
        <a:srgbClr val="F3F3F3"/>
      </a:dk2>
      <a:lt2>
        <a:srgbClr val="FFFFFF"/>
      </a:lt2>
      <a:accent1>
        <a:srgbClr val="6EA6FF"/>
      </a:accent1>
      <a:accent2>
        <a:srgbClr val="0F6DFF"/>
      </a:accent2>
      <a:accent3>
        <a:srgbClr val="0530AD"/>
      </a:accent3>
      <a:accent4>
        <a:srgbClr val="00BAB6"/>
      </a:accent4>
      <a:accent5>
        <a:srgbClr val="924CFC"/>
      </a:accent5>
      <a:accent6>
        <a:srgbClr val="D7306D"/>
      </a:accent6>
      <a:hlink>
        <a:srgbClr val="0F6DFF"/>
      </a:hlink>
      <a:folHlink>
        <a:srgbClr val="E0E0E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wrap="square" lIns="0" tIns="0" rIns="0" bIns="0" rtlCol="0">
        <a:noAutofit/>
      </a:bodyPr>
      <a:lstStyle>
        <a:defPPr>
          <a:lnSpc>
            <a:spcPct val="105000"/>
          </a:lnSpc>
          <a:spcBef>
            <a:spcPts val="1000"/>
          </a:spcBef>
          <a:defRPr sz="2000" dirty="0" err="1" smtClean="0">
            <a:solidFill>
              <a:schemeClr val="tx1"/>
            </a:solidFill>
            <a:latin typeface="IBM Plex Sans" charset="0"/>
            <a:ea typeface="IBM Plex Sans" charset="0"/>
            <a:cs typeface="IBM Plex Sans"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academy</Template>
  <TotalTime>7732</TotalTime>
  <Words>1884</Words>
  <Application>Microsoft Macintosh PowerPoint</Application>
  <PresentationFormat>Custom</PresentationFormat>
  <Paragraphs>254</Paragraphs>
  <Slides>16</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.AppleSystemUIFont</vt:lpstr>
      <vt:lpstr>Aptos Narrow</vt:lpstr>
      <vt:lpstr>Arial</vt:lpstr>
      <vt:lpstr>Arial Regular</vt:lpstr>
      <vt:lpstr>Calibri</vt:lpstr>
      <vt:lpstr>IBM Plex Sans</vt:lpstr>
      <vt:lpstr>Inter</vt:lpstr>
      <vt:lpstr>LucidaGrande</vt:lpstr>
      <vt:lpstr>Wingdings</vt:lpstr>
      <vt:lpstr>1_COVERS</vt:lpstr>
      <vt:lpstr>3_Light Background</vt:lpstr>
      <vt:lpstr>PowerPoint Presentation</vt:lpstr>
      <vt:lpstr>Triangle of Quantum Security (QC + PQC + QRNG)  </vt:lpstr>
      <vt:lpstr>PowerPoint Presentation</vt:lpstr>
      <vt:lpstr>PowerPoint Presentation</vt:lpstr>
      <vt:lpstr>Quantum-Resistant Standards for New Cryptographic Algorithms</vt:lpstr>
      <vt:lpstr>PowerPoint Presentation</vt:lpstr>
      <vt:lpstr>Quantum Risk Assessment Post-Quantum Cryptography Assessment Service </vt:lpstr>
      <vt:lpstr>Today’s Classical Cryptographic Algorithms and Protocols</vt:lpstr>
      <vt:lpstr>Estimated Cryptographic Algorithm Count (a.k.a. Crypto Inventory Typical Size/Volume)  </vt:lpstr>
      <vt:lpstr>Discovery Tools for Comprehensive Cryptographic Inventory</vt:lpstr>
      <vt:lpstr>Building a Comprehensive Cryptographic Bill of Materials (CBOM)</vt:lpstr>
      <vt:lpstr>Sample Cryptographic Bill of Materials (CBOM)</vt:lpstr>
      <vt:lpstr>Hybrid Approach: Immediate Action with Cryptographic Inventory Development</vt:lpstr>
      <vt:lpstr>Hybrid PQC Migration &amp; Cryptographic Agility</vt:lpstr>
      <vt:lpstr>Quantum Risk Assessment Quantum Resilience Strategy Framework Scope Summary</vt:lpstr>
      <vt:lpstr>Quantum Risk Assessment Quantum Resilience Program Outputs/Deliverables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and Storytelling</dc:title>
  <dc:creator>Kl Hamilton</dc:creator>
  <cp:lastModifiedBy>Sameh Saeed</cp:lastModifiedBy>
  <cp:revision>251</cp:revision>
  <cp:lastPrinted>2017-10-24T19:02:10Z</cp:lastPrinted>
  <dcterms:created xsi:type="dcterms:W3CDTF">2019-03-19T20:16:43Z</dcterms:created>
  <dcterms:modified xsi:type="dcterms:W3CDTF">2026-02-08T17:02:10Z</dcterms:modified>
</cp:coreProperties>
</file>