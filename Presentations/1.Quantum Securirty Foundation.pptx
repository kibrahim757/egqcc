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  <p:sldMasterId id="2147483670" r:id="rId2"/>
    <p:sldMasterId id="2147483674" r:id="rId3"/>
  </p:sldMasterIdLst>
  <p:notesMasterIdLst>
    <p:notesMasterId r:id="rId19"/>
  </p:notesMasterIdLst>
  <p:handoutMasterIdLst>
    <p:handoutMasterId r:id="rId20"/>
  </p:handoutMasterIdLst>
  <p:sldIdLst>
    <p:sldId id="141168164" r:id="rId4"/>
    <p:sldId id="141168166" r:id="rId5"/>
    <p:sldId id="141168165" r:id="rId6"/>
    <p:sldId id="290" r:id="rId7"/>
    <p:sldId id="141168160" r:id="rId8"/>
    <p:sldId id="141168177" r:id="rId9"/>
    <p:sldId id="293" r:id="rId10"/>
    <p:sldId id="141168175" r:id="rId11"/>
    <p:sldId id="141168176" r:id="rId12"/>
    <p:sldId id="264" r:id="rId13"/>
    <p:sldId id="267" r:id="rId14"/>
    <p:sldId id="268" r:id="rId15"/>
    <p:sldId id="272" r:id="rId16"/>
    <p:sldId id="273" r:id="rId17"/>
    <p:sldId id="274" r:id="rId18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547EBF"/>
          </p15:clr>
        </p15:guide>
        <p15:guide id="2" pos="4608" userDrawn="1">
          <p15:clr>
            <a:srgbClr val="547EBF"/>
          </p15:clr>
        </p15:guide>
        <p15:guide id="3" pos="6912" userDrawn="1">
          <p15:clr>
            <a:srgbClr val="547EBF"/>
          </p15:clr>
        </p15:guide>
        <p15:guide id="4" pos="2304" userDrawn="1">
          <p15:clr>
            <a:srgbClr val="547EBF"/>
          </p15:clr>
        </p15:guide>
        <p15:guide id="5" orient="horz" pos="1296" userDrawn="1">
          <p15:clr>
            <a:srgbClr val="547EBF"/>
          </p15:clr>
        </p15:guide>
        <p15:guide id="6" orient="horz" pos="3888" userDrawn="1">
          <p15:clr>
            <a:srgbClr val="547EBF"/>
          </p15:clr>
        </p15:guide>
        <p15:guide id="7" userDrawn="1">
          <p15:clr>
            <a:srgbClr val="547EBF"/>
          </p15:clr>
        </p15:guide>
        <p15:guide id="8" pos="9216" userDrawn="1">
          <p15:clr>
            <a:srgbClr val="547EBF"/>
          </p15:clr>
        </p15:guide>
        <p15:guide id="9" orient="horz" userDrawn="1">
          <p15:clr>
            <a:srgbClr val="547EBF"/>
          </p15:clr>
        </p15:guide>
        <p15:guide id="10" orient="horz" pos="5184" userDrawn="1">
          <p15:clr>
            <a:srgbClr val="547EBF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BM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FF"/>
    <a:srgbClr val="E80000"/>
    <a:srgbClr val="76008A"/>
    <a:srgbClr val="00811F"/>
    <a:srgbClr val="FFF001"/>
    <a:srgbClr val="FF8B00"/>
    <a:srgbClr val="000000"/>
    <a:srgbClr val="F7F3F1"/>
    <a:srgbClr val="DBFBFB"/>
    <a:srgbClr val="ED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E4A56-5D67-E645-835B-29EA19C378C6}" v="6" dt="2026-01-20T09:53:04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0" autoAdjust="0"/>
    <p:restoredTop sz="95694"/>
  </p:normalViewPr>
  <p:slideViewPr>
    <p:cSldViewPr snapToObjects="1">
      <p:cViewPr varScale="1">
        <p:scale>
          <a:sx n="86" d="100"/>
          <a:sy n="86" d="100"/>
        </p:scale>
        <p:origin x="248" y="208"/>
      </p:cViewPr>
      <p:guideLst>
        <p:guide orient="horz" pos="2592"/>
        <p:guide pos="4608"/>
        <p:guide pos="6912"/>
        <p:guide pos="2304"/>
        <p:guide orient="horz" pos="1296"/>
        <p:guide orient="horz" pos="3888"/>
        <p:guide/>
        <p:guide pos="9216"/>
        <p:guide orient="horz"/>
        <p:guide orient="horz" pos="51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Objects="1">
      <p:cViewPr varScale="1">
        <p:scale>
          <a:sx n="67" d="100"/>
          <a:sy n="67" d="100"/>
        </p:scale>
        <p:origin x="23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h Saeed" userId="2c0a189a-0f7c-4206-8181-9a10555249db" providerId="ADAL" clId="{852638DA-3B48-5304-BB1F-24E51C1A5FD3}"/>
    <pc:docChg chg="custSel addSld delSld modSld modMainMaster">
      <pc:chgData name="Sameh Saeed" userId="2c0a189a-0f7c-4206-8181-9a10555249db" providerId="ADAL" clId="{852638DA-3B48-5304-BB1F-24E51C1A5FD3}" dt="2026-01-20T09:53:04.641" v="84"/>
      <pc:docMkLst>
        <pc:docMk/>
      </pc:docMkLst>
      <pc:sldChg chg="add del setBg">
        <pc:chgData name="Sameh Saeed" userId="2c0a189a-0f7c-4206-8181-9a10555249db" providerId="ADAL" clId="{852638DA-3B48-5304-BB1F-24E51C1A5FD3}" dt="2026-01-20T09:51:07.232" v="81"/>
        <pc:sldMkLst>
          <pc:docMk/>
          <pc:sldMk cId="0" sldId="264"/>
        </pc:sldMkLst>
      </pc:sldChg>
      <pc:sldChg chg="add">
        <pc:chgData name="Sameh Saeed" userId="2c0a189a-0f7c-4206-8181-9a10555249db" providerId="ADAL" clId="{852638DA-3B48-5304-BB1F-24E51C1A5FD3}" dt="2026-01-20T09:51:37.691" v="82"/>
        <pc:sldMkLst>
          <pc:docMk/>
          <pc:sldMk cId="0" sldId="267"/>
        </pc:sldMkLst>
      </pc:sldChg>
      <pc:sldChg chg="add">
        <pc:chgData name="Sameh Saeed" userId="2c0a189a-0f7c-4206-8181-9a10555249db" providerId="ADAL" clId="{852638DA-3B48-5304-BB1F-24E51C1A5FD3}" dt="2026-01-20T09:51:59.755" v="83"/>
        <pc:sldMkLst>
          <pc:docMk/>
          <pc:sldMk cId="0" sldId="268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2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3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4"/>
        </pc:sldMkLst>
      </pc:sldChg>
      <pc:sldChg chg="delSp modSp mod">
        <pc:chgData name="Sameh Saeed" userId="2c0a189a-0f7c-4206-8181-9a10555249db" providerId="ADAL" clId="{852638DA-3B48-5304-BB1F-24E51C1A5FD3}" dt="2026-01-20T09:49:36.417" v="78" actId="313"/>
        <pc:sldMkLst>
          <pc:docMk/>
          <pc:sldMk cId="1614369707" sldId="141168164"/>
        </pc:sldMkLst>
        <pc:spChg chg="del">
          <ac:chgData name="Sameh Saeed" userId="2c0a189a-0f7c-4206-8181-9a10555249db" providerId="ADAL" clId="{852638DA-3B48-5304-BB1F-24E51C1A5FD3}" dt="2026-01-20T09:41:40.457" v="26" actId="478"/>
          <ac:spMkLst>
            <pc:docMk/>
            <pc:sldMk cId="1614369707" sldId="141168164"/>
            <ac:spMk id="2" creationId="{8392BFBF-63F1-8911-10E4-A39432041DBB}"/>
          </ac:spMkLst>
        </pc:spChg>
        <pc:spChg chg="mod">
          <ac:chgData name="Sameh Saeed" userId="2c0a189a-0f7c-4206-8181-9a10555249db" providerId="ADAL" clId="{852638DA-3B48-5304-BB1F-24E51C1A5FD3}" dt="2026-01-20T09:49:36.417" v="78" actId="313"/>
          <ac:spMkLst>
            <pc:docMk/>
            <pc:sldMk cId="1614369707" sldId="141168164"/>
            <ac:spMk id="6" creationId="{C9F683B6-CF41-EC42-BFCB-802BCC74C2BD}"/>
          </ac:spMkLst>
        </pc:spChg>
        <pc:picChg chg="del">
          <ac:chgData name="Sameh Saeed" userId="2c0a189a-0f7c-4206-8181-9a10555249db" providerId="ADAL" clId="{852638DA-3B48-5304-BB1F-24E51C1A5FD3}" dt="2026-01-20T09:41:04.707" v="23" actId="478"/>
          <ac:picMkLst>
            <pc:docMk/>
            <pc:sldMk cId="1614369707" sldId="141168164"/>
            <ac:picMk id="3" creationId="{2D011E2D-EA95-4A77-26D6-A726496EC998}"/>
          </ac:picMkLst>
        </pc:picChg>
      </pc:sldChg>
      <pc:sldChg chg="modSp mod">
        <pc:chgData name="Sameh Saeed" userId="2c0a189a-0f7c-4206-8181-9a10555249db" providerId="ADAL" clId="{852638DA-3B48-5304-BB1F-24E51C1A5FD3}" dt="2026-01-20T09:42:21.474" v="68" actId="20577"/>
        <pc:sldMkLst>
          <pc:docMk/>
          <pc:sldMk cId="3099148267" sldId="141168166"/>
        </pc:sldMkLst>
        <pc:graphicFrameChg chg="modGraphic">
          <ac:chgData name="Sameh Saeed" userId="2c0a189a-0f7c-4206-8181-9a10555249db" providerId="ADAL" clId="{852638DA-3B48-5304-BB1F-24E51C1A5FD3}" dt="2026-01-20T09:42:21.474" v="68" actId="20577"/>
          <ac:graphicFrameMkLst>
            <pc:docMk/>
            <pc:sldMk cId="3099148267" sldId="141168166"/>
            <ac:graphicFrameMk id="2" creationId="{6CEC9ECD-F542-6E0E-7C5B-71DA66EDB038}"/>
          </ac:graphicFrameMkLst>
        </pc:graphicFrameChg>
      </pc:sldChg>
      <pc:sldChg chg="del">
        <pc:chgData name="Sameh Saeed" userId="2c0a189a-0f7c-4206-8181-9a10555249db" providerId="ADAL" clId="{852638DA-3B48-5304-BB1F-24E51C1A5FD3}" dt="2026-01-20T09:43:51.777" v="69" actId="2696"/>
        <pc:sldMkLst>
          <pc:docMk/>
          <pc:sldMk cId="2489434924" sldId="141168167"/>
        </pc:sldMkLst>
      </pc:sldChg>
      <pc:sldChg chg="del">
        <pc:chgData name="Sameh Saeed" userId="2c0a189a-0f7c-4206-8181-9a10555249db" providerId="ADAL" clId="{852638DA-3B48-5304-BB1F-24E51C1A5FD3}" dt="2026-01-20T09:43:51.826" v="76" actId="2696"/>
        <pc:sldMkLst>
          <pc:docMk/>
          <pc:sldMk cId="71118598" sldId="141168168"/>
        </pc:sldMkLst>
      </pc:sldChg>
      <pc:sldChg chg="del">
        <pc:chgData name="Sameh Saeed" userId="2c0a189a-0f7c-4206-8181-9a10555249db" providerId="ADAL" clId="{852638DA-3B48-5304-BB1F-24E51C1A5FD3}" dt="2026-01-20T09:43:51.830" v="77" actId="2696"/>
        <pc:sldMkLst>
          <pc:docMk/>
          <pc:sldMk cId="3244826120" sldId="141168169"/>
        </pc:sldMkLst>
      </pc:sldChg>
      <pc:sldChg chg="del">
        <pc:chgData name="Sameh Saeed" userId="2c0a189a-0f7c-4206-8181-9a10555249db" providerId="ADAL" clId="{852638DA-3B48-5304-BB1F-24E51C1A5FD3}" dt="2026-01-20T09:43:51.780" v="71" actId="2696"/>
        <pc:sldMkLst>
          <pc:docMk/>
          <pc:sldMk cId="961574583" sldId="141168170"/>
        </pc:sldMkLst>
      </pc:sldChg>
      <pc:sldChg chg="del">
        <pc:chgData name="Sameh Saeed" userId="2c0a189a-0f7c-4206-8181-9a10555249db" providerId="ADAL" clId="{852638DA-3B48-5304-BB1F-24E51C1A5FD3}" dt="2026-01-20T09:43:51.779" v="70" actId="2696"/>
        <pc:sldMkLst>
          <pc:docMk/>
          <pc:sldMk cId="1161729148" sldId="141168171"/>
        </pc:sldMkLst>
      </pc:sldChg>
      <pc:sldChg chg="del">
        <pc:chgData name="Sameh Saeed" userId="2c0a189a-0f7c-4206-8181-9a10555249db" providerId="ADAL" clId="{852638DA-3B48-5304-BB1F-24E51C1A5FD3}" dt="2026-01-20T09:43:51.781" v="72" actId="2696"/>
        <pc:sldMkLst>
          <pc:docMk/>
          <pc:sldMk cId="3085263681" sldId="141168172"/>
        </pc:sldMkLst>
      </pc:sldChg>
      <pc:sldChg chg="del">
        <pc:chgData name="Sameh Saeed" userId="2c0a189a-0f7c-4206-8181-9a10555249db" providerId="ADAL" clId="{852638DA-3B48-5304-BB1F-24E51C1A5FD3}" dt="2026-01-20T09:43:51.782" v="73" actId="2696"/>
        <pc:sldMkLst>
          <pc:docMk/>
          <pc:sldMk cId="3571843094" sldId="141168173"/>
        </pc:sldMkLst>
      </pc:sldChg>
      <pc:sldChg chg="del">
        <pc:chgData name="Sameh Saeed" userId="2c0a189a-0f7c-4206-8181-9a10555249db" providerId="ADAL" clId="{852638DA-3B48-5304-BB1F-24E51C1A5FD3}" dt="2026-01-20T09:43:51.804" v="75" actId="2696"/>
        <pc:sldMkLst>
          <pc:docMk/>
          <pc:sldMk cId="2906025844" sldId="141168174"/>
        </pc:sldMkLst>
      </pc:sldChg>
      <pc:sldChg chg="del">
        <pc:chgData name="Sameh Saeed" userId="2c0a189a-0f7c-4206-8181-9a10555249db" providerId="ADAL" clId="{852638DA-3B48-5304-BB1F-24E51C1A5FD3}" dt="2026-01-20T09:43:51.785" v="74" actId="2696"/>
        <pc:sldMkLst>
          <pc:docMk/>
          <pc:sldMk cId="3873097955" sldId="141168178"/>
        </pc:sldMkLst>
      </pc:sldChg>
      <pc:sldMasterChg chg="delSp mod modSldLayout">
        <pc:chgData name="Sameh Saeed" userId="2c0a189a-0f7c-4206-8181-9a10555249db" providerId="ADAL" clId="{852638DA-3B48-5304-BB1F-24E51C1A5FD3}" dt="2026-01-20T09:41:24.045" v="25" actId="478"/>
        <pc:sldMasterMkLst>
          <pc:docMk/>
          <pc:sldMasterMk cId="2721201770" sldId="2147483670"/>
        </pc:sldMasterMkLst>
        <pc:picChg chg="del">
          <ac:chgData name="Sameh Saeed" userId="2c0a189a-0f7c-4206-8181-9a10555249db" providerId="ADAL" clId="{852638DA-3B48-5304-BB1F-24E51C1A5FD3}" dt="2026-01-20T09:41:19.844" v="24" actId="478"/>
          <ac:picMkLst>
            <pc:docMk/>
            <pc:sldMasterMk cId="2721201770" sldId="2147483670"/>
            <ac:picMk id="6" creationId="{35093E54-4108-3F77-D12B-019BDCC48DBC}"/>
          </ac:picMkLst>
        </pc:picChg>
        <pc:sldLayoutChg chg="delSp mod">
          <pc:chgData name="Sameh Saeed" userId="2c0a189a-0f7c-4206-8181-9a10555249db" providerId="ADAL" clId="{852638DA-3B48-5304-BB1F-24E51C1A5FD3}" dt="2026-01-20T09:41:24.045" v="25" actId="478"/>
          <pc:sldLayoutMkLst>
            <pc:docMk/>
            <pc:sldMasterMk cId="2721201770" sldId="2147483670"/>
            <pc:sldLayoutMk cId="2985166878" sldId="2147483671"/>
          </pc:sldLayoutMkLst>
          <pc:picChg chg="del">
            <ac:chgData name="Sameh Saeed" userId="2c0a189a-0f7c-4206-8181-9a10555249db" providerId="ADAL" clId="{852638DA-3B48-5304-BB1F-24E51C1A5FD3}" dt="2026-01-20T09:41:24.045" v="25" actId="478"/>
            <ac:picMkLst>
              <pc:docMk/>
              <pc:sldMasterMk cId="2721201770" sldId="2147483670"/>
              <pc:sldLayoutMk cId="2985166878" sldId="2147483671"/>
              <ac:picMk id="4" creationId="{05220278-5DB9-E1BD-457D-4DA14CFC4BC7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3A1D4-C2F1-4FBA-9F37-B87A976340E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01E57-0ADC-4285-9663-DD3D73EBE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2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5288BB53-F264-D84E-8876-073A512183CA}" type="datetimeFigureOut">
              <a:rPr lang="en-US" smtClean="0"/>
              <a:pPr/>
              <a:t>1/20/26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698D0594-4E60-8F4B-8226-C705B94694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8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0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8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8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8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8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8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0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8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8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8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8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8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 userDrawn="1"/>
        </p:nvSpPr>
        <p:spPr bwMode="auto"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003853"/>
              </a:gs>
              <a:gs pos="100000">
                <a:srgbClr val="001A2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  <a:defRPr/>
            </a:pPr>
            <a:endParaRPr lang="en-US" altLang="en-US" sz="11501" i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88720" y="3749040"/>
            <a:ext cx="5212080" cy="299158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16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1"/>
            <a:ext cx="137160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1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9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9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9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9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9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1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9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9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9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9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9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53F51-BA7A-0B34-9471-3DDAB98039EE}"/>
              </a:ext>
            </a:extLst>
          </p:cNvPr>
          <p:cNvSpPr txBox="1">
            <a:spLocks/>
          </p:cNvSpPr>
          <p:nvPr userDrawn="1"/>
        </p:nvSpPr>
        <p:spPr>
          <a:xfrm>
            <a:off x="454859" y="7714211"/>
            <a:ext cx="2022333" cy="51538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20" b="0" i="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Page </a:t>
            </a:r>
            <a:fld id="{3FD999D4-B456-9943-89B7-30D56181CE18}" type="slidenum">
              <a:rPr lang="en-US" sz="1920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r>
              <a:rPr lang="en-US" sz="1920" b="0" i="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763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3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56511"/>
            <a:ext cx="932688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663440"/>
            <a:ext cx="768096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1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1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5288281"/>
            <a:ext cx="932688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3488056"/>
            <a:ext cx="932688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3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8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842136"/>
            <a:ext cx="4848226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609850"/>
            <a:ext cx="4848226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1" y="1842136"/>
            <a:ext cx="485013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1" y="2609850"/>
            <a:ext cx="485013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7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0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46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7660"/>
            <a:ext cx="3609976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327660"/>
            <a:ext cx="61341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722120"/>
            <a:ext cx="3609976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67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5760720"/>
            <a:ext cx="658368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735330"/>
            <a:ext cx="658368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6440806"/>
            <a:ext cx="658368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90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05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329566"/>
            <a:ext cx="246888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329566"/>
            <a:ext cx="722376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9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6583680" cy="54864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CA83FE4-EEEB-EE4E-BD6B-71BF10FF7DDE}"/>
              </a:ext>
            </a:extLst>
          </p:cNvPr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Calibri" panose="020F0502020204030204" pitchFamily="34" charset="0"/>
                <a:ea typeface="IBM Plex Sans" charset="0"/>
                <a:cs typeface="Calibri" panose="020F0502020204030204" pitchFamily="34" charset="0"/>
              </a:rPr>
              <a:pPr algn="l"/>
              <a:t>‹#›</a:t>
            </a:fld>
            <a:endParaRPr lang="en-US" sz="800" b="0" i="0" dirty="0">
              <a:solidFill>
                <a:schemeClr val="bg2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bg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600"/>
        </a:spcBef>
        <a:buFontTx/>
        <a:buNone/>
        <a:tabLst/>
        <a:defRPr lang="en-US" sz="2000" b="0" i="0" kern="1200" dirty="0" smtClean="0">
          <a:solidFill>
            <a:schemeClr val="bg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600"/>
        </a:spcBef>
        <a:buFont typeface="LucidaGrande" charset="0"/>
        <a:buChar char="-"/>
        <a:defRPr lang="en-US" sz="2000" b="0" i="0" kern="1200" dirty="0" smtClean="0">
          <a:solidFill>
            <a:schemeClr val="bg2"/>
          </a:solidFill>
          <a:latin typeface="IBM Plex Sans" charset="0"/>
          <a:ea typeface="IBM Plex Sans" charset="0"/>
          <a:cs typeface="Arial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bg2"/>
          </a:solidFill>
          <a:latin typeface="IBM Plex Sans" charset="0"/>
          <a:ea typeface="IBM Plex Sans" charset="0"/>
          <a:cs typeface="Arial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600"/>
        </a:spcBef>
        <a:buFont typeface=".AppleSystemUIFont" charset="-120"/>
        <a:buChar char="–"/>
        <a:defRPr lang="en-US" sz="2000" b="0" i="0" kern="1200" dirty="0" smtClean="0">
          <a:solidFill>
            <a:schemeClr val="bg2"/>
          </a:solidFill>
          <a:latin typeface="IBM Plex Sans" charset="0"/>
          <a:ea typeface="+mn-ea"/>
          <a:cs typeface="+mn-cs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>
          <a:solidFill>
            <a:schemeClr val="bg2"/>
          </a:solidFill>
          <a:latin typeface="IBM Plex Sans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1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1"/>
            <a:ext cx="6583680" cy="52578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2EF33D-4C05-492F-AC89-ACB608214B80}"/>
              </a:ext>
            </a:extLst>
          </p:cNvPr>
          <p:cNvCxnSpPr/>
          <p:nvPr userDrawn="1"/>
        </p:nvCxnSpPr>
        <p:spPr>
          <a:xfrm>
            <a:off x="457201" y="7714211"/>
            <a:ext cx="135064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0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1200"/>
        </a:spcBef>
        <a:buFontTx/>
        <a:buNone/>
        <a:tabLst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1000"/>
        </a:spcBef>
        <a:buFont typeface="LucidaGrande" charset="0"/>
        <a:buChar char="-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0"/>
        </a:spcBef>
        <a:buFont typeface=".AppleSystemUIFont" charset="-120"/>
        <a:buChar char="–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29566"/>
            <a:ext cx="987552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920240"/>
            <a:ext cx="987552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7627621"/>
            <a:ext cx="3474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2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54864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548640" rtl="0" eaLnBrk="1" latinLnBrk="0" hangingPunct="1">
        <a:spcBef>
          <a:spcPct val="20000"/>
        </a:spcBef>
        <a:buFont typeface="Arial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3" Type="http://schemas.openxmlformats.org/officeDocument/2006/relationships/image" Target="../media/image76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" Type="http://schemas.openxmlformats.org/officeDocument/2006/relationships/image" Target="../media/image52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Quantum-Resilient Encryption | Post-Quantum Cyrptography Solutions by Tyto">
            <a:extLst>
              <a:ext uri="{FF2B5EF4-FFF2-40B4-BE49-F238E27FC236}">
                <a16:creationId xmlns:a16="http://schemas.microsoft.com/office/drawing/2014/main" id="{118E856A-185F-B9A1-E596-B1026EEE1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230"/>
            <a:ext cx="14630400" cy="822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224CE121-697A-4943-AD7F-0C3307F3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290" y="2811392"/>
            <a:ext cx="295530" cy="67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6304" tIns="73152" rIns="146304" bIns="7315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EG" sz="3456" b="1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F683B6-CF41-EC42-BFCB-802BCC74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39742"/>
            <a:ext cx="10631323" cy="310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6304" tIns="73152" rIns="146304" bIns="73152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EG" sz="48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EG" sz="48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EG" sz="4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Quantum Security Foundation</a:t>
            </a:r>
            <a:endParaRPr lang="en-US" altLang="en-EG" sz="4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-548640" algn="ctr" defTabSz="146304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EG" sz="48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36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018" y="247821"/>
            <a:ext cx="13225779" cy="640080"/>
          </a:xfrm>
        </p:spPr>
        <p:txBody>
          <a:bodyPr>
            <a:noAutofit/>
          </a:bodyPr>
          <a:lstStyle/>
          <a:p>
            <a:r>
              <a:rPr lang="en-US" sz="3200" b="1" dirty="0"/>
              <a:t>Triangle of Quantum Security (QC + PQC + QRNG)</a:t>
            </a:r>
            <a:br>
              <a:rPr lang="en-US" sz="2800" dirty="0"/>
            </a:br>
            <a:br>
              <a:rPr lang="en-US" sz="2800" dirty="0"/>
            </a:br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EC9ECD-F542-6E0E-7C5B-71DA66EDB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722231"/>
              </p:ext>
            </p:extLst>
          </p:nvPr>
        </p:nvGraphicFramePr>
        <p:xfrm>
          <a:off x="254000" y="1460500"/>
          <a:ext cx="8661400" cy="5308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285">
                  <a:extLst>
                    <a:ext uri="{9D8B030D-6E8A-4147-A177-3AD203B41FA5}">
                      <a16:colId xmlns:a16="http://schemas.microsoft.com/office/drawing/2014/main" val="4097712625"/>
                    </a:ext>
                  </a:extLst>
                </a:gridCol>
                <a:gridCol w="2310283">
                  <a:extLst>
                    <a:ext uri="{9D8B030D-6E8A-4147-A177-3AD203B41FA5}">
                      <a16:colId xmlns:a16="http://schemas.microsoft.com/office/drawing/2014/main" val="6841859"/>
                    </a:ext>
                  </a:extLst>
                </a:gridCol>
                <a:gridCol w="2414117">
                  <a:extLst>
                    <a:ext uri="{9D8B030D-6E8A-4147-A177-3AD203B41FA5}">
                      <a16:colId xmlns:a16="http://schemas.microsoft.com/office/drawing/2014/main" val="1730800643"/>
                    </a:ext>
                  </a:extLst>
                </a:gridCol>
                <a:gridCol w="2249715">
                  <a:extLst>
                    <a:ext uri="{9D8B030D-6E8A-4147-A177-3AD203B41FA5}">
                      <a16:colId xmlns:a16="http://schemas.microsoft.com/office/drawing/2014/main" val="225152381"/>
                    </a:ext>
                  </a:extLst>
                </a:gridCol>
              </a:tblGrid>
              <a:tr h="1344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Security Dimension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Quantum Communications (QC)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Post-Quantum Cryptography (PQC)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Quantum Random Number Generators (QRNG)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3034294499"/>
                  </a:ext>
                </a:extLst>
              </a:tr>
              <a:tr h="10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Principle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Uses principles of quantum mechanics for security (</a:t>
                      </a:r>
                      <a:r>
                        <a:rPr lang="en-US" sz="1600" b="1" u="none" strike="noStrike" dirty="0">
                          <a:effectLst/>
                        </a:rPr>
                        <a:t>Quantum Communications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Develops </a:t>
                      </a:r>
                      <a:r>
                        <a:rPr lang="en-US" sz="1600" b="1" u="none" strike="noStrike" dirty="0">
                          <a:effectLst/>
                        </a:rPr>
                        <a:t>algorithms</a:t>
                      </a:r>
                      <a:r>
                        <a:rPr lang="en-US" sz="1600" u="none" strike="noStrike" dirty="0">
                          <a:effectLst/>
                        </a:rPr>
                        <a:t> secure against quantum computer attacks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Uses quantum phenomena to generate true </a:t>
                      </a:r>
                      <a:r>
                        <a:rPr lang="en-US" sz="1600" b="1" u="none" strike="noStrike" dirty="0">
                          <a:effectLst/>
                        </a:rPr>
                        <a:t>random numbers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557376065"/>
                  </a:ext>
                </a:extLst>
              </a:tr>
              <a:tr h="80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Technology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Requires </a:t>
                      </a:r>
                      <a:r>
                        <a:rPr lang="en-US" sz="1600" b="1" u="none" strike="noStrike" dirty="0">
                          <a:effectLst/>
                        </a:rPr>
                        <a:t>quantum hardware</a:t>
                      </a:r>
                      <a:r>
                        <a:rPr lang="en-US" sz="1600" u="none" strike="noStrike" dirty="0">
                          <a:effectLst/>
                        </a:rPr>
                        <a:t> (e.g., </a:t>
                      </a:r>
                      <a:r>
                        <a:rPr lang="en-US" sz="1600" b="1" u="none" strike="noStrike" dirty="0">
                          <a:effectLst/>
                        </a:rPr>
                        <a:t>QKD</a:t>
                      </a:r>
                      <a:r>
                        <a:rPr lang="en-US" sz="1600" u="none" strike="noStrike" dirty="0">
                          <a:effectLst/>
                        </a:rPr>
                        <a:t> systems)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Can be implemented on </a:t>
                      </a:r>
                      <a:r>
                        <a:rPr lang="en-US" sz="1600" b="1" u="none" strike="noStrike" dirty="0">
                          <a:effectLst/>
                        </a:rPr>
                        <a:t>classical computers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Based on quantum mechanical processes (e.g., </a:t>
                      </a:r>
                      <a:r>
                        <a:rPr lang="en-US" sz="1600" b="1" u="none" strike="noStrike" dirty="0">
                          <a:effectLst/>
                        </a:rPr>
                        <a:t>photon behavior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2949478282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Quantum Key Distribution (</a:t>
                      </a:r>
                      <a:r>
                        <a:rPr lang="en-US" sz="1600" b="1" u="none" strike="noStrike" dirty="0">
                          <a:effectLst/>
                        </a:rPr>
                        <a:t>QKD</a:t>
                      </a:r>
                      <a:r>
                        <a:rPr lang="en-US" sz="1600" u="none" strike="noStrike" dirty="0">
                          <a:effectLst/>
                        </a:rPr>
                        <a:t>) like BB84, </a:t>
                      </a:r>
                      <a:r>
                        <a:rPr lang="en-US" sz="1600" u="none" strike="noStrike" dirty="0" err="1">
                          <a:effectLst/>
                        </a:rPr>
                        <a:t>E91</a:t>
                      </a:r>
                      <a:r>
                        <a:rPr lang="en-US" sz="1600" u="none" strike="noStrike" dirty="0">
                          <a:effectLst/>
                        </a:rPr>
                        <a:t>, … etc.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Lattice-based (Kyber, Dilithium), Code-based (McEliece), Hash-based (SPHINCS+)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Devices generating </a:t>
                      </a:r>
                      <a:r>
                        <a:rPr lang="en-US" sz="1600" b="1" u="none" strike="noStrike" dirty="0">
                          <a:effectLst/>
                        </a:rPr>
                        <a:t>true  randomness</a:t>
                      </a:r>
                      <a:r>
                        <a:rPr lang="en-US" sz="1600" u="none" strike="noStrike" dirty="0">
                          <a:effectLst/>
                        </a:rPr>
                        <a:t> from quantum states of particles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675604362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 </a:t>
                      </a:r>
                    </a:p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(Bank Vault)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Super secure </a:t>
                      </a:r>
                      <a:r>
                        <a:rPr lang="en-US" sz="1600" b="1" u="none" strike="noStrike" dirty="0">
                          <a:effectLst/>
                        </a:rPr>
                        <a:t>one-time delivery</a:t>
                      </a:r>
                      <a:r>
                        <a:rPr lang="en-US" sz="1600" u="none" strike="noStrike" dirty="0">
                          <a:effectLst/>
                        </a:rPr>
                        <a:t> of the combination code (</a:t>
                      </a:r>
                      <a:r>
                        <a:rPr lang="en-US" sz="1600" b="1" u="none" strike="noStrike" dirty="0">
                          <a:effectLst/>
                        </a:rPr>
                        <a:t>key</a:t>
                      </a:r>
                      <a:r>
                        <a:rPr lang="en-US" sz="1600" u="none" strike="noStrike" dirty="0">
                          <a:effectLst/>
                        </a:rPr>
                        <a:t>) for the vault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Replacing the existing lock on the </a:t>
                      </a:r>
                      <a:r>
                        <a:rPr lang="en-US" sz="1600" b="1" u="none" strike="noStrike" dirty="0">
                          <a:effectLst/>
                        </a:rPr>
                        <a:t>vault</a:t>
                      </a:r>
                      <a:r>
                        <a:rPr lang="en-US" sz="1600" u="none" strike="noStrike" dirty="0">
                          <a:effectLst/>
                        </a:rPr>
                        <a:t> with a new, </a:t>
                      </a:r>
                      <a:r>
                        <a:rPr lang="en-US" sz="1600" b="1" u="none" strike="noStrike" dirty="0">
                          <a:effectLst/>
                        </a:rPr>
                        <a:t>resistant</a:t>
                      </a:r>
                      <a:r>
                        <a:rPr lang="en-US" sz="1600" u="none" strike="noStrike" dirty="0">
                          <a:effectLst/>
                        </a:rPr>
                        <a:t> to quantum computers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Generating </a:t>
                      </a:r>
                      <a:r>
                        <a:rPr lang="en-US" sz="1600" b="1" u="none" strike="noStrike" dirty="0">
                          <a:effectLst/>
                        </a:rPr>
                        <a:t>true random</a:t>
                      </a:r>
                      <a:r>
                        <a:rPr lang="en-US" sz="1600" u="none" strike="noStrike" dirty="0">
                          <a:effectLst/>
                        </a:rPr>
                        <a:t> numbers for the combination code (</a:t>
                      </a:r>
                      <a:r>
                        <a:rPr lang="en-US" sz="1600" b="1" u="none" strike="noStrike" dirty="0">
                          <a:effectLst/>
                        </a:rPr>
                        <a:t>keys</a:t>
                      </a:r>
                      <a:r>
                        <a:rPr lang="en-US" sz="1600" u="none" strike="noStrike" dirty="0">
                          <a:effectLst/>
                        </a:rPr>
                        <a:t>) using photons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25636565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5900EDF-B158-FF2F-BB68-BED4C1B3E0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1460500"/>
            <a:ext cx="5308600" cy="530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B212A5-0FF8-19AA-239E-8558B3E56EFE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14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2C73-C2FF-AA3F-E055-8CAC0CBF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AA487-B428-3BF7-7DBA-F48AA029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75617"/>
            <a:ext cx="14020800" cy="533400"/>
          </a:xfrm>
        </p:spPr>
        <p:txBody>
          <a:bodyPr>
            <a:noAutofit/>
          </a:bodyPr>
          <a:lstStyle/>
          <a:p>
            <a:pPr algn="ctr"/>
            <a:r>
              <a:rPr lang="en-US" sz="3840" b="1" dirty="0">
                <a:solidFill>
                  <a:srgbClr val="0064FF"/>
                </a:solidFill>
              </a:rPr>
              <a:t>Q-Day (Quantum Day)</a:t>
            </a:r>
            <a:endParaRPr lang="en-US" sz="4480" u="sng" dirty="0">
              <a:solidFill>
                <a:srgbClr val="0064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3396C-2FE2-6562-4CED-19665155BF9E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54927-FB6F-B661-0175-40A9B4E24DF6}"/>
              </a:ext>
            </a:extLst>
          </p:cNvPr>
          <p:cNvSpPr txBox="1"/>
          <p:nvPr/>
        </p:nvSpPr>
        <p:spPr>
          <a:xfrm>
            <a:off x="1266094" y="1460399"/>
            <a:ext cx="7540283" cy="5853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31520"/>
            <a:r>
              <a:rPr lang="en-EG" sz="2880" b="1" dirty="0">
                <a:solidFill>
                  <a:srgbClr val="FF0000"/>
                </a:solidFill>
                <a:latin typeface="Arial"/>
              </a:rPr>
              <a:t>On Ocober 14th, 2024</a:t>
            </a:r>
          </a:p>
          <a:p>
            <a:pPr defTabSz="731520"/>
            <a:endParaRPr lang="en-EG" sz="288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EG" sz="2880" dirty="0">
                <a:solidFill>
                  <a:srgbClr val="000000"/>
                </a:solidFill>
                <a:latin typeface="Arial"/>
              </a:rPr>
              <a:t>Chinese researchers have successfully used a D-Wave quantum computer to breach </a:t>
            </a:r>
            <a:r>
              <a:rPr lang="en-EG" sz="288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EG" sz="2880" dirty="0">
                <a:solidFill>
                  <a:srgbClr val="000000"/>
                </a:solidFill>
                <a:latin typeface="Arial"/>
              </a:rPr>
              <a:t> encryption algorithms, signaling a new era of risk for critical sectors like banking and the military. This marks the first-ever quantum attack on military-grade encryption, showing how even our best defenses—like </a:t>
            </a:r>
            <a:r>
              <a:rPr lang="en-EG" sz="288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EG" sz="2880" dirty="0">
                <a:solidFill>
                  <a:srgbClr val="000000"/>
                </a:solidFill>
                <a:latin typeface="Arial"/>
              </a:rPr>
              <a:t> encryption—could be vulnerable.</a:t>
            </a:r>
          </a:p>
          <a:p>
            <a:pPr defTabSz="731520"/>
            <a:endParaRPr lang="en-EG" sz="288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EG" sz="2880" dirty="0">
                <a:solidFill>
                  <a:srgbClr val="000000"/>
                </a:solidFill>
                <a:latin typeface="Arial"/>
              </a:rPr>
              <a:t>Note: </a:t>
            </a:r>
            <a:r>
              <a:rPr lang="en-US" sz="2880" b="1" dirty="0">
                <a:solidFill>
                  <a:srgbClr val="000000"/>
                </a:solidFill>
                <a:latin typeface="Arial"/>
              </a:rPr>
              <a:t>Shor’s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 Quantum algorithm (</a:t>
            </a:r>
            <a:r>
              <a:rPr lang="en-US" sz="2880" b="1" dirty="0">
                <a:solidFill>
                  <a:srgbClr val="000000"/>
                </a:solidFill>
                <a:latin typeface="Arial"/>
              </a:rPr>
              <a:t>RSA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) was published on </a:t>
            </a:r>
            <a:r>
              <a:rPr lang="en-US" sz="2880" b="1" dirty="0">
                <a:solidFill>
                  <a:srgbClr val="FF0000"/>
                </a:solidFill>
                <a:latin typeface="Arial"/>
              </a:rPr>
              <a:t>1994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 (30+ years).</a:t>
            </a:r>
            <a:endParaRPr lang="en-EG" sz="288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49505-519A-AED4-4BD1-850CC9AC8622}"/>
              </a:ext>
            </a:extLst>
          </p:cNvPr>
          <p:cNvSpPr txBox="1"/>
          <p:nvPr/>
        </p:nvSpPr>
        <p:spPr>
          <a:xfrm>
            <a:off x="1597856" y="7382268"/>
            <a:ext cx="12956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31520"/>
            <a:r>
              <a:rPr lang="en-EG" sz="1440" u="sng" dirty="0">
                <a:solidFill>
                  <a:srgbClr val="0F6DFF"/>
                </a:solidFill>
                <a:latin typeface="Arial"/>
              </a:rPr>
              <a:t>https://quantumzeitgeist.substack.com/p/researchers-hack-military-grade-encryption?utm_campaign=post&amp;utm_medium=web&amp;triedRedirect=true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E7E2B-4482-B1A4-FBCF-9F56F5A941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3324" y="2343667"/>
            <a:ext cx="4613691" cy="34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1"/>
            <a:ext cx="14020800" cy="5334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NIST Post-Quantum Cryptography Standardization (</a:t>
            </a:r>
            <a:r>
              <a:rPr lang="en-US" sz="3200" b="1" dirty="0">
                <a:solidFill>
                  <a:srgbClr val="E53E46"/>
                </a:solidFill>
              </a:rPr>
              <a:t>2016</a:t>
            </a:r>
            <a:r>
              <a:rPr lang="en-US" sz="3200" b="1" dirty="0"/>
              <a:t>)</a:t>
            </a:r>
            <a:br>
              <a:rPr lang="en-US" sz="3200" b="1" dirty="0"/>
            </a:br>
            <a:r>
              <a:rPr lang="en-US" sz="2000" b="1" u="sng" dirty="0"/>
              <a:t>https://</a:t>
            </a:r>
            <a:r>
              <a:rPr lang="en-US" sz="2000" b="1" u="sng" dirty="0" err="1"/>
              <a:t>en.wikipedia.org</a:t>
            </a:r>
            <a:r>
              <a:rPr lang="en-US" sz="2000" b="1" u="sng" dirty="0"/>
              <a:t>/wiki/</a:t>
            </a:r>
            <a:r>
              <a:rPr lang="en-US" sz="2000" b="1" u="sng" dirty="0" err="1"/>
              <a:t>NIST_Post-Quantum_Cryptography_Standardization</a:t>
            </a:r>
            <a:endParaRPr lang="en-US" sz="4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D6072-C7D9-664C-910F-2B9485D57837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4094E6-B715-7A0E-EF91-D8199C252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7790" y="990601"/>
            <a:ext cx="12829738" cy="64371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3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2885A-5E5B-7C09-3E6E-6C2AAFBB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5645900"/>
            <a:ext cx="9677400" cy="2583700"/>
          </a:xfrm>
          <a:prstGeom prst="rect">
            <a:avLst/>
          </a:prstGeom>
        </p:spPr>
      </p:pic>
      <p:sp>
        <p:nvSpPr>
          <p:cNvPr id="2" name="TextShape 1">
            <a:extLst>
              <a:ext uri="{FF2B5EF4-FFF2-40B4-BE49-F238E27FC236}">
                <a16:creationId xmlns:a16="http://schemas.microsoft.com/office/drawing/2014/main" id="{C324728C-E530-5F44-BB21-52D02E592F91}"/>
              </a:ext>
            </a:extLst>
          </p:cNvPr>
          <p:cNvSpPr txBox="1"/>
          <p:nvPr/>
        </p:nvSpPr>
        <p:spPr>
          <a:xfrm>
            <a:off x="336528" y="333833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Problem Statement – </a:t>
            </a:r>
            <a:r>
              <a:rPr lang="en-US" sz="320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Cybersecurity Threats of Quantum Computing</a:t>
            </a: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34014-EF1C-9842-D386-88F862B0851F}"/>
              </a:ext>
            </a:extLst>
          </p:cNvPr>
          <p:cNvSpPr txBox="1"/>
          <p:nvPr/>
        </p:nvSpPr>
        <p:spPr>
          <a:xfrm>
            <a:off x="336528" y="1143000"/>
            <a:ext cx="13857773" cy="678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Cryptographically Relevant Quantum Computers (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CRQC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s) are emerging rapidly (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Q-Day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Their increasing capacity (measured by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qubits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) and development pace pose a significant risk on current Cybersecurity. 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These quantum systems can decrypt widely used asymmetric security protocols like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RSA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Elliptical Curve 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algorithms, or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(just few months ago).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Migration and secrecy maintenance time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exceed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the expected arrival time of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CRQC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s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New legal regulations and directives are established in the US, EU, and China to address cryptographic concerns.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US" sz="2560" dirty="0">
                <a:solidFill>
                  <a:srgbClr val="000000"/>
                </a:solidFill>
                <a:latin typeface="Arial"/>
              </a:rPr>
              <a:t>     </a:t>
            </a:r>
            <a:r>
              <a:rPr lang="en-US" sz="2560" b="1" i="1" dirty="0">
                <a:solidFill>
                  <a:srgbClr val="000000"/>
                </a:solidFill>
                <a:latin typeface="Arial"/>
              </a:rPr>
              <a:t>Mosca Theorem (x + y &gt; z)</a:t>
            </a: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24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015B-87C3-E9CA-DD91-B6B0B50C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6E78C881-CE5B-A251-9854-B40FEB3CC7C5}"/>
              </a:ext>
            </a:extLst>
          </p:cNvPr>
          <p:cNvSpPr txBox="1"/>
          <p:nvPr/>
        </p:nvSpPr>
        <p:spPr>
          <a:xfrm>
            <a:off x="531150" y="333833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History of Cryptographic Transitions</a:t>
            </a:r>
            <a:endParaRPr lang="en-US" sz="3200" b="1" spc="-2" dirty="0">
              <a:solidFill>
                <a:srgbClr val="000000"/>
              </a:solidFill>
              <a:latin typeface="Calibri" panose="020F0502020204030204" pitchFamily="34" charset="0"/>
              <a:ea typeface="IBM Plex Sans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44A055A-BD8F-41C8-9442-69E8FE1AE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77814"/>
              </p:ext>
            </p:extLst>
          </p:nvPr>
        </p:nvGraphicFramePr>
        <p:xfrm>
          <a:off x="533400" y="1199214"/>
          <a:ext cx="13521378" cy="6420784"/>
        </p:xfrm>
        <a:graphic>
          <a:graphicData uri="http://schemas.openxmlformats.org/drawingml/2006/table">
            <a:tbl>
              <a:tblPr/>
              <a:tblGrid>
                <a:gridCol w="3073459">
                  <a:extLst>
                    <a:ext uri="{9D8B030D-6E8A-4147-A177-3AD203B41FA5}">
                      <a16:colId xmlns:a16="http://schemas.microsoft.com/office/drawing/2014/main" val="3433033282"/>
                    </a:ext>
                  </a:extLst>
                </a:gridCol>
                <a:gridCol w="10447919">
                  <a:extLst>
                    <a:ext uri="{9D8B030D-6E8A-4147-A177-3AD203B41FA5}">
                      <a16:colId xmlns:a16="http://schemas.microsoft.com/office/drawing/2014/main" val="4203590510"/>
                    </a:ext>
                  </a:extLst>
                </a:gridCol>
              </a:tblGrid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14751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 to NIST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from proprietary algorithms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34142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Early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with 1024-bit keys, MD5, SHA1 widely used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422327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Mid-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 from DES to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3DES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as AES was being developed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413677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Early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MD5 found weak; industry moved to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6579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published, but 3DES still widely used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36326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published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suite due to SHA1 concerns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878161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 1024 → 2048-bit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626603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 announced SHA1 collision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987102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RSA-250 (829-bit)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was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factored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; urged shift to 2048-bit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56944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Round 3 post-quantum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algorithm selections announced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896315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published first tranche of quantum-resistant standards and algorithms </a:t>
                      </a:r>
                    </a:p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FIPS-203, FIPS-204, FIPS 205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915802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Q-Day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Shor’s Algorithm (1994) expected to break RSA, DH, ECC</a:t>
                      </a:r>
                    </a:p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AES as well (October 2024)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51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1"/>
            <a:ext cx="14020800" cy="533400"/>
          </a:xfrm>
        </p:spPr>
        <p:txBody>
          <a:bodyPr>
            <a:noAutofit/>
          </a:bodyPr>
          <a:lstStyle/>
          <a:p>
            <a:r>
              <a:rPr lang="en-US" sz="3200" b="1" dirty="0"/>
              <a:t>Quantum-Resistant Standards for New Cryptographic Algorithms</a:t>
            </a:r>
            <a:endParaRPr lang="en-US" sz="4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D6072-C7D9-664C-910F-2B9485D57837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FD01127-B51D-ED28-539E-6428807E6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175073"/>
              </p:ext>
            </p:extLst>
          </p:nvPr>
        </p:nvGraphicFramePr>
        <p:xfrm>
          <a:off x="381000" y="796978"/>
          <a:ext cx="13487400" cy="68992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931">
                  <a:extLst>
                    <a:ext uri="{9D8B030D-6E8A-4147-A177-3AD203B41FA5}">
                      <a16:colId xmlns:a16="http://schemas.microsoft.com/office/drawing/2014/main" val="1549872932"/>
                    </a:ext>
                  </a:extLst>
                </a:gridCol>
                <a:gridCol w="3256554">
                  <a:extLst>
                    <a:ext uri="{9D8B030D-6E8A-4147-A177-3AD203B41FA5}">
                      <a16:colId xmlns:a16="http://schemas.microsoft.com/office/drawing/2014/main" val="3971865718"/>
                    </a:ext>
                  </a:extLst>
                </a:gridCol>
                <a:gridCol w="4160105">
                  <a:extLst>
                    <a:ext uri="{9D8B030D-6E8A-4147-A177-3AD203B41FA5}">
                      <a16:colId xmlns:a16="http://schemas.microsoft.com/office/drawing/2014/main" val="899511941"/>
                    </a:ext>
                  </a:extLst>
                </a:gridCol>
                <a:gridCol w="4164810">
                  <a:extLst>
                    <a:ext uri="{9D8B030D-6E8A-4147-A177-3AD203B41FA5}">
                      <a16:colId xmlns:a16="http://schemas.microsoft.com/office/drawing/2014/main" val="4137139247"/>
                    </a:ext>
                  </a:extLst>
                </a:gridCol>
              </a:tblGrid>
              <a:tr h="869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Region / Body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Organization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Key Initiatives &amp; Standards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Notable Algorithms </a:t>
                      </a:r>
                    </a:p>
                    <a:p>
                      <a:pPr algn="l" fontAlgn="ctr"/>
                      <a:r>
                        <a:rPr lang="en-US" sz="1800" b="1" u="none" strike="noStrike" dirty="0">
                          <a:effectLst/>
                        </a:rPr>
                        <a:t>Specifications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3722695625"/>
                  </a:ext>
                </a:extLst>
              </a:tr>
              <a:tr h="16798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United States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NIST</a:t>
                      </a:r>
                      <a:r>
                        <a:rPr lang="en-US" sz="1600" u="none" strike="noStrike" dirty="0">
                          <a:effectLst/>
                        </a:rPr>
                        <a:t> (National Institute of Standards and Technology)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PQC</a:t>
                      </a:r>
                      <a:r>
                        <a:rPr lang="en-US" sz="1600" u="none" strike="noStrike" dirty="0">
                          <a:effectLst/>
                        </a:rPr>
                        <a:t> Standards 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FIPS 203</a:t>
                      </a:r>
                      <a:r>
                        <a:rPr lang="en-US" sz="1600" u="none" strike="noStrike" dirty="0">
                          <a:effectLst/>
                        </a:rPr>
                        <a:t>: ML-KEM (Kyber)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FIPS 204</a:t>
                      </a:r>
                      <a:r>
                        <a:rPr lang="en-US" sz="1600" u="none" strike="noStrike" dirty="0">
                          <a:effectLst/>
                        </a:rPr>
                        <a:t>: ML-DSA (</a:t>
                      </a:r>
                      <a:r>
                        <a:rPr lang="en-US" sz="1600" u="none" strike="noStrike" dirty="0" err="1">
                          <a:effectLst/>
                        </a:rPr>
                        <a:t>Dilithium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FIPS 205</a:t>
                      </a:r>
                      <a:r>
                        <a:rPr lang="en-US" sz="1600" u="none" strike="noStrike" dirty="0">
                          <a:effectLst/>
                        </a:rPr>
                        <a:t>: SLH-DSA (SPHINCS+)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‘-</a:t>
                      </a:r>
                      <a:r>
                        <a:rPr lang="en-US" sz="1600" b="1" u="none" strike="noStrike" dirty="0">
                          <a:effectLst/>
                        </a:rPr>
                        <a:t>ML-KEM (Kyber)</a:t>
                      </a:r>
                      <a:r>
                        <a:rPr lang="en-US" sz="1600" u="none" strike="noStrike" dirty="0">
                          <a:effectLst/>
                        </a:rPr>
                        <a:t>: Key encapsulation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ML-DSA (</a:t>
                      </a:r>
                      <a:r>
                        <a:rPr lang="en-US" sz="1600" b="1" u="none" strike="noStrike" dirty="0" err="1">
                          <a:effectLst/>
                        </a:rPr>
                        <a:t>Dilithium</a:t>
                      </a:r>
                      <a:r>
                        <a:rPr lang="en-US" sz="1600" b="1" u="none" strike="noStrike" dirty="0">
                          <a:effectLst/>
                        </a:rPr>
                        <a:t>)</a:t>
                      </a:r>
                      <a:r>
                        <a:rPr lang="en-US" sz="1600" u="none" strike="noStrike" dirty="0">
                          <a:effectLst/>
                        </a:rPr>
                        <a:t>: Digital signatures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SLH-DSA (SPHINCS+)</a:t>
                      </a:r>
                      <a:r>
                        <a:rPr lang="en-US" sz="1600" u="none" strike="noStrike" dirty="0">
                          <a:effectLst/>
                        </a:rPr>
                        <a:t>: Stateless hash-based signatures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3376957520"/>
                  </a:ext>
                </a:extLst>
              </a:tr>
              <a:tr h="14415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European Union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ETSI</a:t>
                      </a:r>
                      <a:r>
                        <a:rPr lang="en-US" sz="1600" u="none" strike="noStrike" dirty="0">
                          <a:effectLst/>
                        </a:rPr>
                        <a:t> (European Telecommunications Standards Institute)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Quantum-Safe Cryptography (</a:t>
                      </a:r>
                      <a:r>
                        <a:rPr lang="en-US" sz="1600" b="1" u="none" strike="noStrike" dirty="0">
                          <a:effectLst/>
                        </a:rPr>
                        <a:t>QSC</a:t>
                      </a:r>
                      <a:r>
                        <a:rPr lang="en-US" sz="1600" u="none" strike="noStrike" dirty="0">
                          <a:effectLst/>
                        </a:rPr>
                        <a:t>) 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</a:rPr>
                        <a:t>ETSI TS 104 015</a:t>
                      </a:r>
                      <a:r>
                        <a:rPr lang="en-US" sz="1600" u="none" strike="noStrike" dirty="0">
                          <a:effectLst/>
                        </a:rPr>
                        <a:t>: Efficient Quantum-Safe Hybrid Key Exchanges with Hidden Access Policies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 err="1">
                          <a:effectLst/>
                        </a:rPr>
                        <a:t>Covercrypt</a:t>
                      </a:r>
                      <a:r>
                        <a:rPr lang="en-US" sz="1600" u="none" strike="noStrike" dirty="0">
                          <a:effectLst/>
                        </a:rPr>
                        <a:t>: Hybrid key encapsulation mechanism with access control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2355632758"/>
                  </a:ext>
                </a:extLst>
              </a:tr>
              <a:tr h="806146">
                <a:tc vMerge="1"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ENISA</a:t>
                      </a:r>
                      <a:r>
                        <a:rPr lang="en-US" sz="1600" u="none" strike="noStrike" dirty="0">
                          <a:effectLst/>
                        </a:rPr>
                        <a:t> (European Union Agency for Cybersecurity)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 dirty="0">
                          <a:effectLst/>
                        </a:rPr>
                        <a:t>PQC</a:t>
                      </a:r>
                      <a:r>
                        <a:rPr lang="en-US" sz="1600" u="none" strike="noStrike" dirty="0">
                          <a:effectLst/>
                        </a:rPr>
                        <a:t> standardization and integration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Frameworks for PQC adoption and migration strategies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1727606736"/>
                  </a:ext>
                </a:extLst>
              </a:tr>
              <a:tr h="102744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China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National Cryptography Administration (</a:t>
                      </a:r>
                      <a:r>
                        <a:rPr lang="en-US" sz="1600" b="1" u="none" strike="noStrike" dirty="0">
                          <a:effectLst/>
                        </a:rPr>
                        <a:t>NCA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National PQC standardization </a:t>
                      </a:r>
                      <a:br>
                        <a:rPr lang="en-US" sz="1600" u="none" strike="noStrike">
                          <a:effectLst/>
                        </a:rPr>
                      </a:br>
                      <a:r>
                        <a:rPr lang="en-US" sz="1600" u="none" strike="noStrike">
                          <a:effectLst/>
                        </a:rPr>
                        <a:t>- Development of  quantum-resistant algorithms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Proprietary</a:t>
                      </a:r>
                      <a:r>
                        <a:rPr lang="en-US" sz="1600" u="none" strike="noStrike" dirty="0">
                          <a:effectLst/>
                        </a:rPr>
                        <a:t> algorithms under evaluation </a:t>
                      </a:r>
                    </a:p>
                    <a:p>
                      <a:pPr algn="l" fontAlgn="ctr"/>
                      <a:r>
                        <a:rPr lang="en-US" sz="1600" b="1" u="none" strike="noStrike" dirty="0">
                          <a:effectLst/>
                        </a:rPr>
                        <a:t>(not publicly disclosed)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870568737"/>
                  </a:ext>
                </a:extLst>
              </a:tr>
              <a:tr h="1074861">
                <a:tc vMerge="1"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Institute of Commercial Cryptography Standards (</a:t>
                      </a:r>
                      <a:r>
                        <a:rPr lang="en-US" sz="1600" b="1" u="none" strike="noStrike" dirty="0">
                          <a:effectLst/>
                        </a:rPr>
                        <a:t>ICCS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PQC Evaluation based on security, performance, and feasibility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Ongoing selection process for suitable algorithms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470857180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4FC1F73B-EA79-F309-7B98-02A4BBF104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77800" y="720778"/>
            <a:ext cx="1740108" cy="124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4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936F-FE4A-00EB-13DF-EAD1413E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143D0C93-E23C-34F6-733C-A8002A9C457D}"/>
              </a:ext>
            </a:extLst>
          </p:cNvPr>
          <p:cNvSpPr txBox="1"/>
          <p:nvPr/>
        </p:nvSpPr>
        <p:spPr>
          <a:xfrm>
            <a:off x="456075" y="187025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Threat Actor Today: Harvest Now, Decrypt Later</a:t>
            </a: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02015-6A6A-9195-9DC1-A644B0305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00" y="988231"/>
            <a:ext cx="9104400" cy="64793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706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AC78-A100-9F93-042B-647FDAF6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2D41A4A8-6050-13FA-C26B-CC6339BC39F9}"/>
              </a:ext>
            </a:extLst>
          </p:cNvPr>
          <p:cNvSpPr txBox="1"/>
          <p:nvPr/>
        </p:nvSpPr>
        <p:spPr>
          <a:xfrm>
            <a:off x="456075" y="228600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Threat Actor Future (Q-Day)</a:t>
            </a:r>
            <a:endParaRPr lang="en-US" sz="3200" b="1" spc="-2" dirty="0">
              <a:solidFill>
                <a:srgbClr val="000000"/>
              </a:solidFill>
              <a:latin typeface="Calibri" panose="020F0502020204030204" pitchFamily="34" charset="0"/>
              <a:ea typeface="IBM Plex Sans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5103B-23FF-2C4A-2E36-CFE5E0AF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400" y="987572"/>
            <a:ext cx="9392400" cy="64800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18918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42064"/>
            <a:ext cx="8230765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Projected Timelines and Expert Warnings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501" y="3026702"/>
            <a:ext cx="434328" cy="3702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2987" y="2902461"/>
            <a:ext cx="3397712" cy="61873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2582" b="1">
                <a:solidFill>
                  <a:srgbClr val="FFFFFF"/>
                </a:solidFill>
                <a:latin typeface="Montserrat"/>
              </a:rPr>
              <a:t>Expert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565" y="3794759"/>
            <a:ext cx="1120111" cy="708659"/>
          </a:xfrm>
          <a:prstGeom prst="roundRect">
            <a:avLst>
              <a:gd name="adj" fmla="val 25806"/>
            </a:avLst>
          </a:prstGeom>
          <a:solidFill>
            <a:srgbClr val="37DCF2">
              <a:alpha val="10000"/>
            </a:srgbClr>
          </a:solidFill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0151" y="3908129"/>
            <a:ext cx="868173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37DCF2"/>
                </a:solidFill>
                <a:latin typeface="Montserrat"/>
              </a:rPr>
              <a:t>2029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553" y="3867666"/>
            <a:ext cx="251453" cy="1970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17444" y="3761790"/>
            <a:ext cx="1397164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Gartner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553" y="4128047"/>
            <a:ext cx="3639765" cy="36212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Classical cryptography unsafe from quantum attacks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566" y="4686299"/>
            <a:ext cx="1337276" cy="708659"/>
          </a:xfrm>
          <a:prstGeom prst="roundRect">
            <a:avLst>
              <a:gd name="adj" fmla="val 25806"/>
            </a:avLst>
          </a:prstGeom>
          <a:solidFill>
            <a:srgbClr val="FFFFFF">
              <a:alpha val="8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0151" y="4799669"/>
            <a:ext cx="1044504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D1D5DB"/>
                </a:solidFill>
                <a:latin typeface="Montserrat"/>
              </a:rPr>
              <a:t>2030+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717" y="4786390"/>
            <a:ext cx="251453" cy="142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34609" y="4653330"/>
            <a:ext cx="1522198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Expert Consensus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17" y="5019586"/>
            <a:ext cx="2397438" cy="36212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Tangible quantum threat emerges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565" y="5577841"/>
            <a:ext cx="1142971" cy="708659"/>
          </a:xfrm>
          <a:prstGeom prst="roundRect">
            <a:avLst>
              <a:gd name="adj" fmla="val 25806"/>
            </a:avLst>
          </a:prstGeom>
          <a:solidFill>
            <a:srgbClr val="FFFFFF">
              <a:alpha val="8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20151" y="5691210"/>
            <a:ext cx="879394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D1D5DB"/>
                </a:solidFill>
                <a:latin typeface="Montserrat"/>
              </a:rPr>
              <a:t>2030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7412" y="5654142"/>
            <a:ext cx="251453" cy="1902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40303" y="5544871"/>
            <a:ext cx="2081646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Germany BSI Assumption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12" y="5911126"/>
            <a:ext cx="3165276" cy="36212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Quantum computers break today's algorithms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021" y="1428751"/>
            <a:ext cx="5120512" cy="6343650"/>
          </a:xfrm>
          <a:prstGeom prst="roundRect">
            <a:avLst>
              <a:gd name="adj" fmla="val 5357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66631" y="2303913"/>
            <a:ext cx="480047" cy="4442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3835" y="2256659"/>
            <a:ext cx="2044777" cy="56160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744"/>
              </a:lnSpc>
            </a:pPr>
            <a:r>
              <a:rPr sz="2296" b="1">
                <a:solidFill>
                  <a:srgbClr val="FFFFFF"/>
                </a:solidFill>
                <a:latin typeface="Montserrat"/>
              </a:rPr>
              <a:t>US Mandate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3851" y="3086101"/>
            <a:ext cx="2788849" cy="1965959"/>
          </a:xfrm>
          <a:prstGeom prst="roundRect">
            <a:avLst>
              <a:gd name="adj" fmla="val 9302"/>
            </a:avLst>
          </a:prstGeom>
          <a:solidFill>
            <a:srgbClr val="37DCF2">
              <a:alpha val="10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17252" y="3415825"/>
            <a:ext cx="1442048" cy="89502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6552"/>
              </a:lnSpc>
              <a:spcAft>
                <a:spcPts val="624"/>
              </a:spcAft>
            </a:pPr>
            <a:r>
              <a:rPr sz="4018" b="1">
                <a:solidFill>
                  <a:srgbClr val="37DCF2"/>
                </a:solidFill>
                <a:latin typeface="Montserrat"/>
              </a:rPr>
              <a:t>2035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517" y="4401870"/>
            <a:ext cx="1799517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2184"/>
              </a:lnSpc>
            </a:pPr>
            <a:r>
              <a:rPr sz="1291">
                <a:solidFill>
                  <a:srgbClr val="D1D5DB"/>
                </a:solidFill>
                <a:latin typeface="Roboto"/>
              </a:rPr>
              <a:t>White House Deadline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6631" y="5326379"/>
            <a:ext cx="4343291" cy="2286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66631" y="5647911"/>
            <a:ext cx="320032" cy="27133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623819" y="5607327"/>
            <a:ext cx="199027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Federal Systems Transition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66631" y="6136915"/>
            <a:ext cx="320032" cy="2991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23819" y="6110246"/>
            <a:ext cx="239262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Quantum-Resistant Cryptography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66631" y="6639835"/>
            <a:ext cx="320032" cy="2991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23819" y="6613167"/>
            <a:ext cx="242789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Government Mandate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42064"/>
            <a:ext cx="6382503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Core Mathematical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8674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5831" y="2363646"/>
            <a:ext cx="411469" cy="34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1613" y="2314737"/>
            <a:ext cx="2038365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Lattice-Based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3264946"/>
            <a:ext cx="228594" cy="1680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8705" y="3156001"/>
            <a:ext cx="1166332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SVP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05" y="3515636"/>
            <a:ext cx="178348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Shortest Vector Problem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4087906"/>
            <a:ext cx="228594" cy="168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705" y="3978961"/>
            <a:ext cx="1175950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LWE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06" y="4338596"/>
            <a:ext cx="1506168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Learning With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74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5274506"/>
            <a:ext cx="365750" cy="309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1582" y="5138697"/>
            <a:ext cx="146929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ML-KEM &amp; ML-DSA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1582" y="5406892"/>
            <a:ext cx="1538228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Primary NIST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1949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09123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6279" y="2392022"/>
            <a:ext cx="411469" cy="2908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2062" y="2314737"/>
            <a:ext cx="1789899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Hash-Based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123" y="3264946"/>
            <a:ext cx="228594" cy="1680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9154" y="3156001"/>
            <a:ext cx="1828372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Pre-Image 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9154" y="3515636"/>
            <a:ext cx="211691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Cannot find input from output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123" y="4087906"/>
            <a:ext cx="228594" cy="1680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29154" y="3978961"/>
            <a:ext cx="1687307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Collision Resistance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154" y="4338596"/>
            <a:ext cx="194859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No two inputs same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9122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9122" y="5267471"/>
            <a:ext cx="365750" cy="3235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12029" y="5138697"/>
            <a:ext cx="79443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SLH-DSA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2029" y="5406892"/>
            <a:ext cx="1554259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High-assurance security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398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89570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26728" y="2427494"/>
            <a:ext cx="411469" cy="2199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812509" y="2314737"/>
            <a:ext cx="1805929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Code-Based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70" y="3264946"/>
            <a:ext cx="228594" cy="1680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309603" y="3156001"/>
            <a:ext cx="1910125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Error-Correcting Codes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9602" y="3515636"/>
            <a:ext cx="182676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Mathematical complexity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9570" y="4087906"/>
            <a:ext cx="228594" cy="1680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09603" y="3978961"/>
            <a:ext cx="1454872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McEliece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9603" y="4338596"/>
            <a:ext cx="193256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Classic encryption scheme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89569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89569" y="5288574"/>
            <a:ext cx="365750" cy="28135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492477" y="5138697"/>
            <a:ext cx="844128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40+ Years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2478" y="5406892"/>
            <a:ext cx="1608761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Unbroken security record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01" y="6252209"/>
            <a:ext cx="13167030" cy="1051559"/>
          </a:xfrm>
          <a:prstGeom prst="roundRect">
            <a:avLst>
              <a:gd name="adj" fmla="val 26086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54441" y="6637314"/>
            <a:ext cx="365750" cy="2813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57349" y="6487436"/>
            <a:ext cx="145968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Quantum-Resistant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348" y="6755630"/>
            <a:ext cx="1837990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Hard for quantum computers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669" y="650367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23499" y="6647863"/>
            <a:ext cx="365750" cy="2602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26406" y="6487436"/>
            <a:ext cx="1291366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Well-Understood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6407" y="6755630"/>
            <a:ext cx="1273732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Extensively studied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29514" y="650367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595345" y="6679516"/>
            <a:ext cx="365750" cy="1969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098252" y="6487436"/>
            <a:ext cx="122564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High Assurance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8252" y="6755630"/>
            <a:ext cx="1781885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Proven security track record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42064"/>
            <a:ext cx="5574590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Hybrid vs. Pure PQC Debate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501" y="1534431"/>
            <a:ext cx="434328" cy="40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2987" y="1427993"/>
            <a:ext cx="2073631" cy="61873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2582" b="1">
                <a:solidFill>
                  <a:srgbClr val="FFFFFF"/>
                </a:solidFill>
                <a:latin typeface="Montserrat"/>
              </a:rPr>
              <a:t>Pro-Hybrid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2320289"/>
            <a:ext cx="6446358" cy="4103369"/>
          </a:xfrm>
          <a:prstGeom prst="roundRect">
            <a:avLst>
              <a:gd name="adj" fmla="val 6685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240936" y="4292725"/>
            <a:ext cx="4103369" cy="1584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51534" y="264033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972" y="2742205"/>
            <a:ext cx="320032" cy="299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597" y="2559331"/>
            <a:ext cx="1047710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Safety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597" y="2921277"/>
            <a:ext cx="383372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Connection remains secure if one algorithm is unbroken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34" y="350901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972" y="3645672"/>
            <a:ext cx="320032" cy="229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597" y="3428013"/>
            <a:ext cx="1735397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Daniel J. Bernstein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598" y="3789956"/>
            <a:ext cx="360610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Prominent cryptologist advocating for hybrid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34" y="4377689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2972" y="4498698"/>
            <a:ext cx="320032" cy="2609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597" y="4296693"/>
            <a:ext cx="1424415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Risk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598" y="4658637"/>
            <a:ext cx="374556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Many PQC proposals have been broken by researchers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" y="6652261"/>
            <a:ext cx="6446358" cy="1120139"/>
          </a:xfrm>
          <a:prstGeom prst="roundRect">
            <a:avLst>
              <a:gd name="adj" fmla="val 24489"/>
            </a:avLst>
          </a:prstGeom>
          <a:solidFill>
            <a:srgbClr val="FF6464">
              <a:alpha val="8000"/>
            </a:srgbClr>
          </a:solidFill>
          <a:ln w="8255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1525" y="7087098"/>
            <a:ext cx="320032" cy="2504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28714" y="6859321"/>
            <a:ext cx="932293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291" b="1">
                <a:solidFill>
                  <a:srgbClr val="FFFFFF"/>
                </a:solidFill>
                <a:latin typeface="Roboto"/>
              </a:rPr>
              <a:t>Allegation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14" y="7218957"/>
            <a:ext cx="419600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NSA and GCHQ pressured NIST to exclude hybrid approaches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52173" y="1586052"/>
            <a:ext cx="434328" cy="3026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23659" y="1427993"/>
            <a:ext cx="2185842" cy="61873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2582" b="1">
                <a:solidFill>
                  <a:srgbClr val="FFFFFF"/>
                </a:solidFill>
                <a:latin typeface="Montserrat"/>
              </a:rPr>
              <a:t>Non-Hybrid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173" y="2320289"/>
            <a:ext cx="6446358" cy="4126230"/>
          </a:xfrm>
          <a:prstGeom prst="roundRect">
            <a:avLst>
              <a:gd name="adj" fmla="val 66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468307" y="4304155"/>
            <a:ext cx="4126230" cy="1584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206" y="264033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63644" y="2766558"/>
            <a:ext cx="320032" cy="2504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2269" y="2559331"/>
            <a:ext cx="2091264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Performance Overhead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270" y="2921277"/>
            <a:ext cx="260262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Increased complexity slows adoption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206" y="350901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63644" y="3645672"/>
            <a:ext cx="320032" cy="2295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12269" y="3428013"/>
            <a:ext cx="2163400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Resource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270" y="3789956"/>
            <a:ext cx="382731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Larger keys and signatures impact constrained systems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206" y="4377689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63644" y="4479565"/>
            <a:ext cx="320032" cy="29916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12270" y="4296693"/>
            <a:ext cx="1318617" cy="39059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435" b="1">
                <a:solidFill>
                  <a:srgbClr val="FFFFFF"/>
                </a:solidFill>
                <a:latin typeface="Roboto"/>
              </a:rPr>
              <a:t>NIST 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270" y="4795797"/>
            <a:ext cx="5211949" cy="352507"/>
          </a:xfrm>
          <a:prstGeom prst="rect">
            <a:avLst/>
          </a:prstGeom>
          <a:noFill/>
        </p:spPr>
        <p:txBody>
          <a:bodyPr wrap="squar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Standards are non-hybrid, NSA guidance supports direct transition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173" y="6675120"/>
            <a:ext cx="6446358" cy="1097280"/>
          </a:xfrm>
          <a:prstGeom prst="roundRect">
            <a:avLst>
              <a:gd name="adj" fmla="val 2500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80767" y="7098528"/>
            <a:ext cx="320032" cy="25046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37957" y="6870750"/>
            <a:ext cx="1450063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291" b="1">
                <a:solidFill>
                  <a:srgbClr val="FFFFFF"/>
                </a:solidFill>
                <a:latin typeface="Roboto"/>
              </a:rPr>
              <a:t>Industry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7956" y="7230387"/>
            <a:ext cx="380166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AWS and others starting with hybrid as transitional step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4904"/>
            <a:ext cx="6387312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Key Implementation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8674" y="155447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5831" y="1753716"/>
            <a:ext cx="411469" cy="287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1614" y="1674655"/>
            <a:ext cx="2814219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Performance &amp; Size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2657139"/>
            <a:ext cx="228594" cy="1949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8705" y="2607361"/>
            <a:ext cx="1066946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Larger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06" y="2921277"/>
            <a:ext cx="250483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Public &amp; private key sizes increased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441103"/>
            <a:ext cx="228594" cy="181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706" y="3384600"/>
            <a:ext cx="1509374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Larger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06" y="3698517"/>
            <a:ext cx="188447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Digital signature overhead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674" y="4226746"/>
            <a:ext cx="228594" cy="1647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8706" y="4161841"/>
            <a:ext cx="1520595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Bandwidth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8706" y="4475756"/>
            <a:ext cx="170173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Increased data transfer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674" y="4978772"/>
            <a:ext cx="228594" cy="2151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8705" y="4939081"/>
            <a:ext cx="1902110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Slower TLS Handshake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8706" y="5252996"/>
            <a:ext cx="138273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Connection delays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674" y="5795010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674" y="6038468"/>
            <a:ext cx="274313" cy="1988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94425" y="5961657"/>
            <a:ext cx="144044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Resource intensive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0519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97693" y="145160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34849" y="1649072"/>
            <a:ext cx="411469" cy="2908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0631" y="1583217"/>
            <a:ext cx="2400644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IoT &amp; Embedded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97693" y="2457787"/>
            <a:ext cx="228594" cy="2050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7724" y="2413050"/>
            <a:ext cx="1345868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Long Lifecycles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7724" y="2726966"/>
            <a:ext cx="195821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10-20 years device lifespan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97693" y="3246793"/>
            <a:ext cx="228594" cy="1815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17724" y="3190291"/>
            <a:ext cx="1565479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Limited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7724" y="3504207"/>
            <a:ext cx="239583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Constrained computational power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97693" y="4013946"/>
            <a:ext cx="228594" cy="20170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17724" y="3967530"/>
            <a:ext cx="1865241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No Update Mechanism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7724" y="4281447"/>
            <a:ext cx="187485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No practical upgrade path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497693" y="4797910"/>
            <a:ext cx="228594" cy="18825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17724" y="4744770"/>
            <a:ext cx="1629599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Difficult to Upgrade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7724" y="5058687"/>
            <a:ext cx="199348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Hardware redesign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7693" y="5600699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497692" y="5811584"/>
            <a:ext cx="274313" cy="264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63443" y="5767346"/>
            <a:ext cx="161837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Legacy vulnerabilities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58108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955281" y="145160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92438" y="1649072"/>
            <a:ext cx="411469" cy="2908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778220" y="1583217"/>
            <a:ext cx="2064013" cy="51402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009" b="1">
                <a:solidFill>
                  <a:srgbClr val="FFFFFF"/>
                </a:solidFill>
                <a:latin typeface="Montserrat"/>
              </a:rPr>
              <a:t>Crypto-Agility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955281" y="2452742"/>
            <a:ext cx="228594" cy="2151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75313" y="2413050"/>
            <a:ext cx="1302587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Easy Switching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75312" y="2726966"/>
            <a:ext cx="2206680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Replace algorithms seamlessly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955281" y="3246793"/>
            <a:ext cx="228594" cy="18153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75313" y="3190291"/>
            <a:ext cx="1360295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Quick Migration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5312" y="3504207"/>
            <a:ext cx="1943788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Rapid algorithm transitions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955281" y="4017309"/>
            <a:ext cx="228594" cy="1949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275313" y="3967530"/>
            <a:ext cx="1395561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Legacy Systems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5313" y="4281447"/>
            <a:ext cx="178188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Many lack this capability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9955281" y="4801273"/>
            <a:ext cx="228594" cy="18153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75312" y="4744770"/>
            <a:ext cx="1762649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Complex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75312" y="5058687"/>
            <a:ext cx="164562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Costly migration effort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5281" y="5600699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955280" y="5827015"/>
            <a:ext cx="274313" cy="23317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21032" y="5767346"/>
            <a:ext cx="162639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Essential requirement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01" y="6800849"/>
            <a:ext cx="13167030" cy="1051559"/>
          </a:xfrm>
          <a:prstGeom prst="roundRect">
            <a:avLst>
              <a:gd name="adj" fmla="val 26086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508722" y="7228156"/>
            <a:ext cx="365750" cy="1969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11630" y="7036076"/>
            <a:ext cx="1451666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Strategic Migration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30" y="7304270"/>
            <a:ext cx="1753031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Phased transition approach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075" y="705231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6103467" y="7185954"/>
            <a:ext cx="365750" cy="28135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06375" y="7036076"/>
            <a:ext cx="157830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Performance Testing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6374" y="7304270"/>
            <a:ext cx="1403576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Evaluate impact early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3795" y="705231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0469617" y="7185954"/>
            <a:ext cx="365750" cy="28135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972526" y="7036076"/>
            <a:ext cx="1522198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Vendor Engagement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525" y="7304270"/>
            <a:ext cx="1908522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9CA3AF"/>
                </a:solidFill>
                <a:latin typeface="Roboto"/>
              </a:rPr>
              <a:t>Ensure supply chain readiness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4904"/>
            <a:ext cx="6727148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Five Stages of Quantum Adoption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82955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2955" y="1374780"/>
            <a:ext cx="263841" cy="42797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1722" b="1">
                <a:solidFill>
                  <a:srgbClr val="37DCF2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8738" y="1354208"/>
            <a:ext cx="981986" cy="48055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1865" b="1">
                <a:solidFill>
                  <a:srgbClr val="FFFFFF"/>
                </a:solidFill>
                <a:latin typeface="Montserrat"/>
              </a:rPr>
              <a:t>Denial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955" y="2016841"/>
            <a:ext cx="205734" cy="1725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28" y="1961156"/>
            <a:ext cx="2612240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View quantum as distant or irrelevant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955" y="2379284"/>
            <a:ext cx="205734" cy="179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28" y="2326917"/>
            <a:ext cx="175303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Consider threat alarmist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55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955" y="2925308"/>
            <a:ext cx="251453" cy="2072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47" y="2852697"/>
            <a:ext cx="133785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Only 5% prepared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7661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29113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9113" y="1374780"/>
            <a:ext cx="307122" cy="42797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1722" b="1">
                <a:solidFill>
                  <a:srgbClr val="37DCF2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4897" y="1354208"/>
            <a:ext cx="1565479" cy="48055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1865" b="1">
                <a:solidFill>
                  <a:srgbClr val="FFFFFF"/>
                </a:solidFill>
                <a:latin typeface="Montserrat"/>
              </a:rPr>
              <a:t>Bargaining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9114" y="2020159"/>
            <a:ext cx="205734" cy="1659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26286" y="1961156"/>
            <a:ext cx="250483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Acknowledge threat but deprioritize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9114" y="2379284"/>
            <a:ext cx="205734" cy="1791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26286" y="2326917"/>
            <a:ext cx="2352554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Focus on AI, cloud, other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29113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9113" y="2920210"/>
            <a:ext cx="251453" cy="2174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72006" y="2852697"/>
            <a:ext cx="167448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"We'll deal with it later"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5249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886703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86703" y="1374780"/>
            <a:ext cx="308725" cy="42797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1722" b="1">
                <a:solidFill>
                  <a:srgbClr val="37DCF2"/>
                </a:solidFill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2485" y="1354208"/>
            <a:ext cx="945117" cy="48055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1865" b="1">
                <a:solidFill>
                  <a:srgbClr val="FFFFFF"/>
                </a:solidFill>
                <a:latin typeface="Montserrat"/>
              </a:rPr>
              <a:t>Anger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86703" y="2013524"/>
            <a:ext cx="205734" cy="1791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83874" y="1961156"/>
            <a:ext cx="2049586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Realize transition is complex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86703" y="2385919"/>
            <a:ext cx="205734" cy="1659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83874" y="2326917"/>
            <a:ext cx="2384614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Frustration among security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86703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86703" y="2911716"/>
            <a:ext cx="251453" cy="2344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29594" y="2852697"/>
            <a:ext cx="222912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More complex than anticipated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05" y="3783330"/>
            <a:ext cx="5029074" cy="2994660"/>
          </a:xfrm>
          <a:prstGeom prst="roundRect">
            <a:avLst>
              <a:gd name="adj" fmla="val 916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445959" y="403478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445959" y="4095120"/>
            <a:ext cx="329564" cy="42797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1722" b="1">
                <a:solidFill>
                  <a:srgbClr val="37DCF2"/>
                </a:solidFill>
                <a:latin typeface="Montserrat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1742" y="4074548"/>
            <a:ext cx="1591127" cy="48055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1865" b="1">
                <a:solidFill>
                  <a:srgbClr val="FFFFFF"/>
                </a:solidFill>
                <a:latin typeface="Montserrat"/>
              </a:rPr>
              <a:t>Depression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45959" y="4728886"/>
            <a:ext cx="205734" cy="1891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43131" y="4818656"/>
            <a:ext cx="4228993" cy="352507"/>
          </a:xfrm>
          <a:prstGeom prst="rect">
            <a:avLst/>
          </a:prstGeom>
          <a:noFill/>
        </p:spPr>
        <p:txBody>
          <a:bodyPr wrap="squar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Overwhelmed by scope: tens of thousands of certificates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445959" y="5370624"/>
            <a:ext cx="205734" cy="18583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743131" y="5321576"/>
            <a:ext cx="1416400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Budget constraints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45959" y="5762932"/>
            <a:ext cx="205734" cy="1327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43130" y="5687337"/>
            <a:ext cx="2206680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D1D5DB"/>
                </a:solidFill>
                <a:latin typeface="Roboto"/>
              </a:rPr>
              <a:t>Unprepared third-party vendors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45959" y="6137910"/>
            <a:ext cx="452616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45959" y="6297620"/>
            <a:ext cx="251453" cy="18349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788849" y="6213116"/>
            <a:ext cx="197745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Scale feels insurmountable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06455" y="3783330"/>
            <a:ext cx="5029074" cy="2994660"/>
          </a:xfrm>
          <a:prstGeom prst="roundRect">
            <a:avLst>
              <a:gd name="adj" fmla="val 9160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657908" y="403478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57909" y="4095120"/>
            <a:ext cx="308725" cy="42797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1722" b="1">
                <a:solidFill>
                  <a:srgbClr val="162235"/>
                </a:solidFill>
                <a:latin typeface="Montserrat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692" y="4074548"/>
            <a:ext cx="1666469" cy="48055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1865" b="1">
                <a:solidFill>
                  <a:srgbClr val="FFFFFF"/>
                </a:solidFill>
                <a:latin typeface="Montserrat"/>
              </a:rPr>
              <a:t>Acceptance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57909" y="4730544"/>
            <a:ext cx="205734" cy="18583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55081" y="4681496"/>
            <a:ext cx="267315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FFFFFF"/>
                </a:solidFill>
                <a:latin typeface="Roboto"/>
              </a:rPr>
              <a:t>Shift from reactive to proactive stance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657909" y="5099624"/>
            <a:ext cx="205734" cy="17919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955081" y="5047256"/>
            <a:ext cx="2407056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FFFFFF"/>
                </a:solidFill>
                <a:latin typeface="Roboto"/>
              </a:rPr>
              <a:t>Create comprehensive action plan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657909" y="5495250"/>
            <a:ext cx="205734" cy="11946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55081" y="5413017"/>
            <a:ext cx="249041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>
                <a:solidFill>
                  <a:srgbClr val="FFFFFF"/>
                </a:solidFill>
                <a:latin typeface="Roboto"/>
              </a:rPr>
              <a:t>Invest in resilience, trust, and agility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57909" y="5863590"/>
            <a:ext cx="4526166" cy="22860"/>
          </a:xfrm>
          <a:prstGeom prst="rect">
            <a:avLst/>
          </a:prstGeom>
          <a:solidFill>
            <a:srgbClr val="37DCF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57908" y="6016506"/>
            <a:ext cx="251453" cy="19708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000800" y="5938796"/>
            <a:ext cx="237980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Ready to lead quantum readiness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01" y="7143749"/>
            <a:ext cx="13167030" cy="731520"/>
          </a:xfrm>
          <a:prstGeom prst="roundRect">
            <a:avLst>
              <a:gd name="adj" fmla="val 37500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26087" y="7384278"/>
            <a:ext cx="320032" cy="25046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780674" y="7316520"/>
            <a:ext cx="5560162" cy="38597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2184"/>
              </a:lnSpc>
            </a:pPr>
            <a:r>
              <a:rPr sz="1291" b="1">
                <a:solidFill>
                  <a:srgbClr val="FFFFFF"/>
                </a:solidFill>
                <a:latin typeface="Roboto"/>
              </a:rPr>
              <a:t>Emotional and operational hurdles enterprises face during PQC adoption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4904"/>
            <a:ext cx="8427935" cy="67599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2870" b="1">
                <a:solidFill>
                  <a:srgbClr val="FFFFFF"/>
                </a:solidFill>
                <a:latin typeface="Montserrat"/>
              </a:rPr>
              <a:t>Recommended Action Plan for Enterprises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82955" y="994396"/>
            <a:ext cx="571486" cy="640079"/>
          </a:xfrm>
          <a:prstGeom prst="roundRect">
            <a:avLst>
              <a:gd name="adj" fmla="val 32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2956" y="1079190"/>
            <a:ext cx="286283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37DCF2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598" y="1086019"/>
            <a:ext cx="3019403" cy="45683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1722" b="1">
                <a:solidFill>
                  <a:srgbClr val="FFFFFF"/>
                </a:solidFill>
                <a:latin typeface="Montserrat"/>
              </a:rPr>
              <a:t>Cryptographic Inventory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2955" y="1925605"/>
            <a:ext cx="228594" cy="1949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2987" y="1869702"/>
            <a:ext cx="143403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Discover &amp;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2987" y="2137896"/>
            <a:ext cx="2580180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All cryptographic assets across enterprise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955" y="2572408"/>
            <a:ext cx="228594" cy="181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2987" y="2509783"/>
            <a:ext cx="184921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Algorithms &amp; Certificates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2987" y="2777977"/>
            <a:ext cx="2241946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Create comprehensive risk overview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955" y="3205765"/>
            <a:ext cx="228594" cy="1949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02986" y="3149863"/>
            <a:ext cx="2193856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Cryptographic Bill of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2986" y="3418057"/>
            <a:ext cx="1998290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CBOM for strategic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56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955" y="3890511"/>
            <a:ext cx="251453" cy="1970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25846" y="3812803"/>
            <a:ext cx="181875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Foundation for migration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0519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51973" y="902955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51974" y="987749"/>
            <a:ext cx="340785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37DCF2"/>
                </a:solidFill>
                <a:latin typeface="Montserra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195" y="994581"/>
            <a:ext cx="1283351" cy="45683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1722" b="1">
                <a:solidFill>
                  <a:srgbClr val="FFFFFF"/>
                </a:solidFill>
                <a:latin typeface="Montserrat"/>
              </a:rPr>
              <a:t>Pilot PQC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1974" y="1756172"/>
            <a:ext cx="228594" cy="1680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72005" y="1686822"/>
            <a:ext cx="2104088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Non-Production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2005" y="1955016"/>
            <a:ext cx="2283624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Test PQC certificates and algorithms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1974" y="2397931"/>
            <a:ext cx="228594" cy="16472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72006" y="2326903"/>
            <a:ext cx="155906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Assess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2006" y="2595097"/>
            <a:ext cx="1903713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Evaluate overhead and impact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51974" y="3022885"/>
            <a:ext cx="228594" cy="1949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72005" y="2966982"/>
            <a:ext cx="172577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Interoperability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2005" y="3235176"/>
            <a:ext cx="1847608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Verify integration capabilities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51974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51973" y="3870121"/>
            <a:ext cx="251453" cy="2378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94865" y="3812803"/>
            <a:ext cx="200951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Validate before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58108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909562" y="902955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09562" y="987749"/>
            <a:ext cx="340785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37DCF2"/>
                </a:solidFill>
                <a:latin typeface="Montserrat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6783" y="994581"/>
            <a:ext cx="2341332" cy="45683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1722" b="1">
                <a:solidFill>
                  <a:srgbClr val="FFFFFF"/>
                </a:solidFill>
                <a:latin typeface="Montserrat"/>
              </a:rPr>
              <a:t>Upgrade Protocols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09562" y="1756172"/>
            <a:ext cx="228594" cy="1680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29594" y="1686822"/>
            <a:ext cx="159112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Modernize TLS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9594" y="1955016"/>
            <a:ext cx="1366707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Transition to TLS 1.3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909562" y="2381123"/>
            <a:ext cx="228594" cy="19834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29594" y="2326903"/>
            <a:ext cx="1477314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Better PQC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9593" y="2595097"/>
            <a:ext cx="2075234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Designed for quantum resistance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909562" y="3012798"/>
            <a:ext cx="228594" cy="2151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29594" y="2966982"/>
            <a:ext cx="1406782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Enhanced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9593" y="3235176"/>
            <a:ext cx="2039968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Improved encryption capabilities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09562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909562" y="3885414"/>
            <a:ext cx="251453" cy="2072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52454" y="3812803"/>
            <a:ext cx="173058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Build strong foundation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66031" y="4606274"/>
            <a:ext cx="4034688" cy="3543300"/>
          </a:xfrm>
          <a:prstGeom prst="roundRect">
            <a:avLst>
              <a:gd name="adj" fmla="val 774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417484" y="4857736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17484" y="4942530"/>
            <a:ext cx="368036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37DCF2"/>
                </a:solidFill>
                <a:latin typeface="Montserrat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4705" y="4949361"/>
            <a:ext cx="2088058" cy="45683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1722" b="1">
                <a:solidFill>
                  <a:srgbClr val="FFFFFF"/>
                </a:solidFill>
                <a:latin typeface="Montserrat"/>
              </a:rPr>
              <a:t>Engage Vendors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17484" y="5704228"/>
            <a:ext cx="228594" cy="18153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37517" y="5641603"/>
            <a:ext cx="1480520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Hardware Suppliers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37517" y="5909797"/>
            <a:ext cx="2314082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Consult PQC roadmaps and timelines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417484" y="6371203"/>
            <a:ext cx="228594" cy="12774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737517" y="6281682"/>
            <a:ext cx="137953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Software Partners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37517" y="6549876"/>
            <a:ext cx="1849211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Understand vendor readiness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417484" y="6984388"/>
            <a:ext cx="228594" cy="18153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737517" y="6921763"/>
            <a:ext cx="1855623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Supply Chain Preparation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37517" y="7189957"/>
            <a:ext cx="1932567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Ensure entire ecosystem ready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17484" y="7463776"/>
            <a:ext cx="3531781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417484" y="7660712"/>
            <a:ext cx="251453" cy="20048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760376" y="7584702"/>
            <a:ext cx="160715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Align all stakeholders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29314" y="4606274"/>
            <a:ext cx="4034688" cy="3543300"/>
          </a:xfrm>
          <a:prstGeom prst="roundRect">
            <a:avLst>
              <a:gd name="adj" fmla="val 7741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680767" y="4857736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80767" y="4942530"/>
            <a:ext cx="340785" cy="470488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153" b="1">
                <a:solidFill>
                  <a:srgbClr val="162235"/>
                </a:solidFill>
                <a:latin typeface="Montserrat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7988" y="4949361"/>
            <a:ext cx="2475985" cy="45683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1722" b="1">
                <a:solidFill>
                  <a:srgbClr val="FFFFFF"/>
                </a:solidFill>
                <a:latin typeface="Montserrat"/>
              </a:rPr>
              <a:t>Migration Roadmap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80767" y="5704228"/>
            <a:ext cx="228594" cy="18153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000800" y="5641603"/>
            <a:ext cx="1634409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Strategic Assessment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0799" y="5909797"/>
            <a:ext cx="2224314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Prioritize critical and long-lived data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680767" y="6344308"/>
            <a:ext cx="228594" cy="18153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000800" y="6281682"/>
            <a:ext cx="1740207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Clear Budget Allocation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00799" y="6549876"/>
            <a:ext cx="2192254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Resource-intensive migration effort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680767" y="7011283"/>
            <a:ext cx="228594" cy="12774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000800" y="6921763"/>
            <a:ext cx="1749825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Phased Implementation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0800" y="7189957"/>
            <a:ext cx="2636285" cy="31903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004">
                <a:solidFill>
                  <a:srgbClr val="D1D5DB"/>
                </a:solidFill>
                <a:latin typeface="Roboto"/>
              </a:rPr>
              <a:t>Upgrade or replace vulnerable components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0768" y="7463776"/>
            <a:ext cx="3531781" cy="22860"/>
          </a:xfrm>
          <a:prstGeom prst="rect">
            <a:avLst/>
          </a:prstGeom>
          <a:solidFill>
            <a:srgbClr val="37DCF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680767" y="7653914"/>
            <a:ext cx="251453" cy="21408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023659" y="7584702"/>
            <a:ext cx="2009511" cy="35250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147" b="1">
                <a:solidFill>
                  <a:srgbClr val="FFFFFF"/>
                </a:solidFill>
                <a:latin typeface="Roboto"/>
              </a:rPr>
              <a:t>Execute quantum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VERS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/>
      <a:lstStyle>
        <a:defPPr algn="l">
          <a:defRPr sz="2000" dirty="0">
            <a:latin typeface="IBM Plex Sans" panose="020B0503050000000000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91440" tIns="45720" rIns="91440" bIns="4572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BM Services Academy_Basic PPT_Plex_v5.8" id="{16CFD3B1-9246-A547-A47B-AD27F55F87D1}" vid="{750DE2A3-828F-3F4B-A26D-620EAA74ACB2}"/>
    </a:ext>
  </a:extLst>
</a:theme>
</file>

<file path=ppt/theme/theme2.xml><?xml version="1.0" encoding="utf-8"?>
<a:theme xmlns:a="http://schemas.openxmlformats.org/drawingml/2006/main" name="3_Light Background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academy</Template>
  <TotalTime>7723</TotalTime>
  <Words>1299</Words>
  <Application>Microsoft Macintosh PowerPoint</Application>
  <PresentationFormat>Custom</PresentationFormat>
  <Paragraphs>278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.AppleSystemUIFont</vt:lpstr>
      <vt:lpstr>Aptos Narrow</vt:lpstr>
      <vt:lpstr>Arial</vt:lpstr>
      <vt:lpstr>Arial Regular</vt:lpstr>
      <vt:lpstr>Calibri</vt:lpstr>
      <vt:lpstr>IBM Plex Sans</vt:lpstr>
      <vt:lpstr>LucidaGrande</vt:lpstr>
      <vt:lpstr>Montserrat</vt:lpstr>
      <vt:lpstr>Roboto</vt:lpstr>
      <vt:lpstr>Wingdings</vt:lpstr>
      <vt:lpstr>1_COVERS</vt:lpstr>
      <vt:lpstr>3_Light Background</vt:lpstr>
      <vt:lpstr>Office Theme</vt:lpstr>
      <vt:lpstr>PowerPoint Presentation</vt:lpstr>
      <vt:lpstr>Triangle of Quantum Security (QC + PQC + QRNG)  </vt:lpstr>
      <vt:lpstr>Q-Day (Quantum Day)</vt:lpstr>
      <vt:lpstr>NIST Post-Quantum Cryptography Standardization (2016) https://en.wikipedia.org/wiki/NIST_Post-Quantum_Cryptography_Standardization</vt:lpstr>
      <vt:lpstr>PowerPoint Presentation</vt:lpstr>
      <vt:lpstr>PowerPoint Presentation</vt:lpstr>
      <vt:lpstr>Quantum-Resistant Standards for New Cryptographic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Storytelling</dc:title>
  <dc:creator>Kl Hamilton</dc:creator>
  <cp:lastModifiedBy>Sameh Saeed</cp:lastModifiedBy>
  <cp:revision>239</cp:revision>
  <cp:lastPrinted>2017-10-24T19:02:10Z</cp:lastPrinted>
  <dcterms:created xsi:type="dcterms:W3CDTF">2019-03-19T20:16:43Z</dcterms:created>
  <dcterms:modified xsi:type="dcterms:W3CDTF">2026-01-20T09:53:06Z</dcterms:modified>
</cp:coreProperties>
</file>